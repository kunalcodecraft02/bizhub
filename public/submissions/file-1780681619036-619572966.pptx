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51"/>
  </p:notesMasterIdLst>
  <p:handoutMasterIdLst>
    <p:handoutMasterId r:id="rId52"/>
  </p:handoutMasterIdLst>
  <p:sldIdLst>
    <p:sldId id="312" r:id="rId5"/>
    <p:sldId id="304" r:id="rId6"/>
    <p:sldId id="307" r:id="rId7"/>
    <p:sldId id="281" r:id="rId8"/>
    <p:sldId id="323" r:id="rId9"/>
    <p:sldId id="324" r:id="rId10"/>
    <p:sldId id="325" r:id="rId11"/>
    <p:sldId id="326" r:id="rId12"/>
    <p:sldId id="327" r:id="rId13"/>
    <p:sldId id="328" r:id="rId14"/>
    <p:sldId id="329" r:id="rId15"/>
    <p:sldId id="330" r:id="rId16"/>
    <p:sldId id="331" r:id="rId17"/>
    <p:sldId id="332" r:id="rId18"/>
    <p:sldId id="333" r:id="rId19"/>
    <p:sldId id="334" r:id="rId20"/>
    <p:sldId id="335" r:id="rId21"/>
    <p:sldId id="336" r:id="rId22"/>
    <p:sldId id="337" r:id="rId23"/>
    <p:sldId id="338" r:id="rId24"/>
    <p:sldId id="339" r:id="rId25"/>
    <p:sldId id="340" r:id="rId26"/>
    <p:sldId id="341" r:id="rId27"/>
    <p:sldId id="282" r:id="rId28"/>
    <p:sldId id="318" r:id="rId29"/>
    <p:sldId id="342" r:id="rId30"/>
    <p:sldId id="343" r:id="rId31"/>
    <p:sldId id="344"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59" r:id="rId47"/>
    <p:sldId id="360" r:id="rId48"/>
    <p:sldId id="361" r:id="rId49"/>
    <p:sldId id="297" r:id="rId5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84B493-BAB1-4AE7-BD5B-A70215C24CC8}">
          <p14:sldIdLst>
            <p14:sldId id="312"/>
            <p14:sldId id="304"/>
            <p14:sldId id="307"/>
            <p14:sldId id="281"/>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282"/>
            <p14:sldId id="318"/>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694B9-AEBB-AB6C-DA90-63FA41669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31B-1939-6E45-B9AB-A7AFBEAD079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56508EC-8488-28B8-17BB-27B3C5C94DF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53591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C7FA0-40A9-6CF8-FE53-7A1584A10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1E664-BAF5-B964-5933-ABED0877FF8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6573354-B4C8-EB9A-559A-DA4EF824F34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54664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F2E97-45E3-ADB1-BA7B-268208FD2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2C7A2-02EC-5EE7-BFEC-40A391F5AD4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2B75749-0321-06FE-2D84-2DC422871C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19254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D34B-C4D1-3BC5-1255-DAAC84427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252D7-45E6-5E18-6934-FE412B195C8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3A6EB8E-9F28-36C2-C7A6-D83BF7C95F3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97886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1B01C-8F81-EAE3-0F99-EDCE6EFFE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06CD8-3824-3DAE-EDA5-21B38F28556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BAA80DA-CB26-8A72-2415-B1815FA370F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08852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19A5E-B988-6ED5-214E-40270C5D6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3D263-C119-9F0F-4C92-EA9AA65CCCF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3AA31C6-096B-7A9C-C8F6-DD8B500F9D4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06276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5B3B-B036-1E98-AF55-0EC4112AB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A7DCD-A6DB-ABEF-3AC0-6CA1FFCDC76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A6F1BF0-53EC-4AE4-3D65-6BDA76DFA6D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44216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E7F3C-DECA-B619-540A-D8CAB49418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C8EE8-A710-618E-DAFE-08F150AF5FF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5928188-6D47-7689-9542-742C18F6195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53440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B3F10-C484-DE24-AF06-5F1F346FF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92620-C11F-7C0C-35C8-AABA1F77348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2780CA-AACE-4B1D-4B07-94EE054ABD3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07580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1DDA8-DFF6-667A-805E-9D785621A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4556F-5A78-BB5C-0B7F-C66EA4768DA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C40DC25-9483-46D8-1B7D-E705CB0F19A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88702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F87B-06B0-8308-2485-A9F21BBD3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8E5AD0-DB08-1F02-494A-2F03DE700FB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3D39226-9E49-6C24-15BF-445F75C882B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22669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624C9-FE7B-1437-22FA-3031C242A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6C45F-A8D1-AB80-01EE-8C107C9BDD6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559E08A-8768-3713-52C5-04173D839BF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85524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1486A-4F9A-1DF2-8CDC-E4C6AE7CF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699B1-9559-8BE9-76F9-1E1C34BB060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68BFEC8-9557-83A6-CF21-3AEDDF5C0E4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596591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2B3F-A8F0-A451-FA4D-C6FA0DFEA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07F50-A651-3DBC-B681-7AAAD0A773F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9DAEA5D-85EC-9D57-7334-26FCC84B406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099852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D1D69-636B-AB08-46D8-EAF571E69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6B2E5-60A4-C6E1-F024-6FB3536870E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DA586AB-D635-F701-369E-DC1938B10A8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23639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A10D4-012C-A5D7-48F4-7E758F65E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531C9-868E-C7E6-46E2-5ACDF626DA7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0403D46-1AF1-E8D7-6CF0-EE3694C81D1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34327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96CD4-A0E1-BC2E-E797-C75636510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093E9-97C5-619F-FBFF-BADA815E3F8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825826E-7B04-E30A-3CDD-9FD0A1366EC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8864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7CB11-56A6-549A-D563-207726194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05E36-7A01-784A-EC29-36D0F321BE8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83F3FED-A943-21B9-8F2A-7B94D6AF6A6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90909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E980-0680-52C0-FFC7-ACFA09C33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63B67-0CC6-66E3-5EFA-4E602D058BE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77E8664-A50A-4568-A717-37533919FE6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89582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98B52-76CC-F976-12FE-DA2C5A9558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B5AAB-5DC5-76E2-A448-28E57136552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B0359C1-2A47-8187-D2BB-D9C8CB4E3FE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37907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38C6-1F1D-0569-D1E6-77923E24E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FD5A5-EA61-5BC1-BD4D-9574B15F0A0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8E54E3C-2CE0-6E41-AA47-854B08C09A5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19294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9C000-19EE-2078-1C57-DB6EEA362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236FF-B2E3-6353-958B-E5FC9FF697B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DEF9315-61E8-D566-0BEC-07387932C89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23306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558B-A02E-A1DE-720B-A376654D9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8F949-0B27-F5D4-E52C-0FC6C18B060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98B2599-83F3-4493-6099-739867A750E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328171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1EBB-4C19-82FA-7235-139E9CD52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1C911-F48A-2A18-1F40-E4A1B6F842E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677CF60-A7F5-3682-4D4C-1E0AC9D022B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47962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205D3-30F1-1CB7-B955-9C5740289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26EEE-38FF-DFE5-ABD8-5A2229C8DCB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549AE91-EC93-4347-6BA1-8855F20AF54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34827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2B676-4B0D-5961-BF38-C248F235C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9E750-4DB3-3B5D-1A6F-A6A9FD651FF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3B6E784-4A67-FB70-A177-8F4D8135E93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508854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7227-620F-B479-05F9-F14471A68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5DB99-1D28-6C21-D94F-E96A3E8266D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0E6E525-A599-B11C-4954-834A0D95A04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714181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DD77-86EB-67EF-9050-73CE6EB1F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A395A-3EBB-4AE6-00C6-71892F03311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70E7130-5EC7-875C-9471-1163D9A4098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5154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E637-C8AF-B01C-F491-656B88FEF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67967-2571-035D-CEBF-E4D6E35A054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9539B6C-B009-691F-F713-9A1D85C765E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03611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E87CF-8C14-FAFD-F64A-D114C5259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3A7FE-3D0D-F481-B36F-6A392A055A5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609351-0828-C70C-E166-5347DF49224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306162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64E4D-2DA7-8C9A-739F-92D31134A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AECEF-F5C4-6C43-C399-5A0C1C2F97C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95B84C7-9E49-9AE8-0D78-4D2A60F9A8B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33041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D3F45-B365-90F9-6066-4C8B63258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C1374-7842-B5A8-89DC-563BE7CB6AC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C346832-E36D-A055-0D34-3645FFB0DD3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8140813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39934-0282-2B33-BA4D-98A6AE821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832D7-1E40-91F3-FE6A-620E0A00B17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D051DBC-5E0C-28A3-C52A-C3BDCF2CE4E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117628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EC99E-C39A-B0DF-6B48-5C4AE4829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D11D7-B943-99A9-5F90-F3BDACF4CB3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4AD504F-999A-9C3F-5C6D-722AACF4B5C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67953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5F570-5DFA-802A-42A1-14C6D9D4C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8720B-6115-E735-D90C-F0D567E9D53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9B3AB3B-B80E-8AAC-60E1-B91BA37F123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734578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7BEED-8FC0-A11F-0264-8EE68903B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7E9AA-B520-E97C-0496-1368A8413FF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0724743-3091-1B49-6C8D-FC363E2031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68382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CC95E-9BF8-15A2-31BA-5A385C538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8654E-034E-7085-6320-6C4F82BEB3A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D83F9D6-B523-A687-81A5-DFDD6619DC3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950464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F7D8-BC74-3320-1A73-273E27BC1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D9D9C-31A5-2370-B129-C17264E479D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78962FC-A12B-DCCD-9FD7-E8F782CBFF7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291459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63CDC-6025-C55F-D067-6CFE02FB3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B11F6-E96E-8090-8EDC-E2FA543A1F2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C0CC678-EE1D-CEDD-29D0-5AC8E208F1B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392910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Apt-tech</a:t>
            </a:r>
            <a:br>
              <a:rPr lang="en-US" dirty="0"/>
            </a:br>
            <a:r>
              <a:rPr lang="en-US" dirty="0"/>
              <a:t>solutions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Blood Relations</a:t>
            </a:r>
          </a:p>
          <a:p>
            <a:r>
              <a:rPr lang="en-US" dirty="0"/>
              <a:t>Direction Sense</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0" y="0"/>
            <a:ext cx="5723586" cy="875071"/>
          </a:xfrm>
        </p:spPr>
        <p:txBody>
          <a:bodyPr/>
          <a:lstStyle/>
          <a:p>
            <a:r>
              <a:rPr lang="en-US" dirty="0"/>
              <a:t>Blood relations</a:t>
            </a:r>
          </a:p>
        </p:txBody>
      </p:sp>
      <p:pic>
        <p:nvPicPr>
          <p:cNvPr id="11" name="Picture 10">
            <a:extLst>
              <a:ext uri="{FF2B5EF4-FFF2-40B4-BE49-F238E27FC236}">
                <a16:creationId xmlns:a16="http://schemas.microsoft.com/office/drawing/2014/main" id="{6A732EE2-6C45-4CE6-A1A8-2DCF514AE858}"/>
              </a:ext>
            </a:extLst>
          </p:cNvPr>
          <p:cNvPicPr>
            <a:picLocks noChangeAspect="1"/>
          </p:cNvPicPr>
          <p:nvPr/>
        </p:nvPicPr>
        <p:blipFill>
          <a:blip r:embed="rId3"/>
          <a:stretch>
            <a:fillRect/>
          </a:stretch>
        </p:blipFill>
        <p:spPr>
          <a:xfrm>
            <a:off x="502239" y="757083"/>
            <a:ext cx="5421842" cy="3156155"/>
          </a:xfrm>
          <a:prstGeom prst="rect">
            <a:avLst/>
          </a:prstGeom>
        </p:spPr>
      </p:pic>
      <p:pic>
        <p:nvPicPr>
          <p:cNvPr id="4" name="Picture 3">
            <a:extLst>
              <a:ext uri="{FF2B5EF4-FFF2-40B4-BE49-F238E27FC236}">
                <a16:creationId xmlns:a16="http://schemas.microsoft.com/office/drawing/2014/main" id="{D9AAB362-7395-8A1E-6D4C-F0765347EEDE}"/>
              </a:ext>
            </a:extLst>
          </p:cNvPr>
          <p:cNvPicPr>
            <a:picLocks noChangeAspect="1"/>
          </p:cNvPicPr>
          <p:nvPr/>
        </p:nvPicPr>
        <p:blipFill>
          <a:blip r:embed="rId4"/>
          <a:stretch>
            <a:fillRect/>
          </a:stretch>
        </p:blipFill>
        <p:spPr>
          <a:xfrm>
            <a:off x="6267921" y="1799433"/>
            <a:ext cx="3385513" cy="3883612"/>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1327354" y="711588"/>
            <a:ext cx="10196052" cy="5531896"/>
          </a:xfrm>
        </p:spPr>
        <p:txBody>
          <a:bodyPr/>
          <a:lstStyle/>
          <a:p>
            <a:r>
              <a:rPr lang="en-US" dirty="0"/>
              <a:t>A family consists of 6 members P, Q, R, X, Y &amp; Z. Q is the son of R but R is not mother, P and R are married couple. Y is the brother of R, X is daughter of P. Z is brother of P.</a:t>
            </a:r>
          </a:p>
          <a:p>
            <a:pPr marL="457200" indent="-457200">
              <a:buAutoNum type="arabicParenR"/>
            </a:pPr>
            <a:r>
              <a:rPr lang="en-US" dirty="0"/>
              <a:t>How many males are in the family?</a:t>
            </a:r>
          </a:p>
          <a:p>
            <a:pPr marL="457200" indent="-457200">
              <a:buAutoNum type="arabicParenR"/>
            </a:pPr>
            <a:r>
              <a:rPr lang="en-US" dirty="0"/>
              <a:t>How many females are in the family?</a:t>
            </a:r>
          </a:p>
          <a:p>
            <a:pPr marL="457200" indent="-457200">
              <a:buAutoNum type="arabicParenR"/>
            </a:pPr>
            <a:r>
              <a:rPr lang="en-US" dirty="0"/>
              <a:t>How P is related to Y?</a:t>
            </a:r>
          </a:p>
          <a:p>
            <a:pPr marL="457200" indent="-457200">
              <a:buAutoNum type="arabicParenR"/>
            </a:pPr>
            <a:r>
              <a:rPr lang="en-US" dirty="0"/>
              <a:t>How Y is related to P?</a:t>
            </a:r>
          </a:p>
          <a:p>
            <a:pPr marL="457200" indent="-457200">
              <a:buAutoNum type="arabicParenR"/>
            </a:pPr>
            <a:r>
              <a:rPr lang="en-US" dirty="0"/>
              <a:t>How X is related to Y?</a:t>
            </a:r>
          </a:p>
          <a:p>
            <a:pPr marL="457200" indent="-457200">
              <a:buAutoNum type="arabicParenR"/>
            </a:pPr>
            <a:r>
              <a:rPr lang="en-US" dirty="0"/>
              <a:t>How Y is related to X?</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EB94-172B-4B0C-E446-8725DEC95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43DA1-B60B-520A-4ADC-AC657C19334E}"/>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DB21C40C-AE29-B85E-1C02-6C154DF39734}"/>
              </a:ext>
            </a:extLst>
          </p:cNvPr>
          <p:cNvSpPr>
            <a:spLocks noGrp="1"/>
          </p:cNvSpPr>
          <p:nvPr>
            <p:ph idx="1"/>
          </p:nvPr>
        </p:nvSpPr>
        <p:spPr>
          <a:xfrm>
            <a:off x="1327354" y="711588"/>
            <a:ext cx="10196052" cy="5531896"/>
          </a:xfrm>
        </p:spPr>
        <p:txBody>
          <a:bodyPr/>
          <a:lstStyle/>
          <a:p>
            <a:r>
              <a:rPr lang="en-US" dirty="0"/>
              <a:t>A is mother of B; B is sister of C; D is son of C; E is brother of D; F is mother of E; G is grand-daughter of A; H has only two children B &amp; C.</a:t>
            </a:r>
          </a:p>
          <a:p>
            <a:pPr marL="457200" indent="-457200">
              <a:buAutoNum type="arabicParenR"/>
            </a:pPr>
            <a:r>
              <a:rPr lang="en-US" dirty="0"/>
              <a:t>Who is mother of G?</a:t>
            </a:r>
          </a:p>
          <a:p>
            <a:pPr marL="457200" indent="-457200">
              <a:buAutoNum type="arabicParenR"/>
            </a:pPr>
            <a:r>
              <a:rPr lang="en-US" dirty="0"/>
              <a:t>How F is related to H?</a:t>
            </a:r>
          </a:p>
          <a:p>
            <a:pPr marL="457200" indent="-457200">
              <a:buAutoNum type="arabicParenR"/>
            </a:pPr>
            <a:r>
              <a:rPr lang="en-US" dirty="0"/>
              <a:t>How H is related to F?</a:t>
            </a:r>
          </a:p>
          <a:p>
            <a:pPr marL="457200" indent="-457200">
              <a:buAutoNum type="arabicParenR"/>
            </a:pPr>
            <a:r>
              <a:rPr lang="en-US" dirty="0"/>
              <a:t>How E is related to H?</a:t>
            </a:r>
          </a:p>
          <a:p>
            <a:pPr marL="457200" indent="-457200">
              <a:buAutoNum type="arabicParenR"/>
            </a:pPr>
            <a:r>
              <a:rPr lang="en-US" dirty="0"/>
              <a:t>How E is related to B?</a:t>
            </a:r>
          </a:p>
          <a:p>
            <a:endParaRPr lang="en-US" dirty="0"/>
          </a:p>
        </p:txBody>
      </p:sp>
    </p:spTree>
    <p:extLst>
      <p:ext uri="{BB962C8B-B14F-4D97-AF65-F5344CB8AC3E}">
        <p14:creationId xmlns:p14="http://schemas.microsoft.com/office/powerpoint/2010/main" val="1561633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BD32-D65D-BD4B-39EE-6A632C1D2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10659-CB3F-D2E3-693B-2C6867088F6F}"/>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96CAAE4A-A875-76B8-ACE8-E414071A988B}"/>
              </a:ext>
            </a:extLst>
          </p:cNvPr>
          <p:cNvSpPr>
            <a:spLocks noGrp="1"/>
          </p:cNvSpPr>
          <p:nvPr>
            <p:ph idx="1"/>
          </p:nvPr>
        </p:nvSpPr>
        <p:spPr>
          <a:xfrm>
            <a:off x="1327354" y="711588"/>
            <a:ext cx="10196052" cy="5531896"/>
          </a:xfrm>
        </p:spPr>
        <p:txBody>
          <a:bodyPr/>
          <a:lstStyle/>
          <a:p>
            <a:r>
              <a:rPr lang="en-US" dirty="0"/>
              <a:t>M has a son Q and daughter R. He has no other children. E is the mother of P and daughter in law of M. How P is related to M?</a:t>
            </a:r>
          </a:p>
          <a:p>
            <a:r>
              <a:rPr lang="en-US" dirty="0"/>
              <a:t>(a)Grandson    (b)Grandchild     (c)Grand daughter     (d)CBD</a:t>
            </a:r>
          </a:p>
          <a:p>
            <a:endParaRPr lang="en-US" dirty="0"/>
          </a:p>
        </p:txBody>
      </p:sp>
    </p:spTree>
    <p:extLst>
      <p:ext uri="{BB962C8B-B14F-4D97-AF65-F5344CB8AC3E}">
        <p14:creationId xmlns:p14="http://schemas.microsoft.com/office/powerpoint/2010/main" val="217538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04B26-5451-C5D8-F1DB-C1C8B69F0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DB83A-A938-17C2-BD8D-3E422CF8DB53}"/>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11668E6B-242A-DE55-DE3D-CD93047507B9}"/>
              </a:ext>
            </a:extLst>
          </p:cNvPr>
          <p:cNvSpPr>
            <a:spLocks noGrp="1"/>
          </p:cNvSpPr>
          <p:nvPr>
            <p:ph idx="1"/>
          </p:nvPr>
        </p:nvSpPr>
        <p:spPr>
          <a:xfrm>
            <a:off x="1327354" y="711588"/>
            <a:ext cx="10196052" cy="5531896"/>
          </a:xfrm>
        </p:spPr>
        <p:txBody>
          <a:bodyPr/>
          <a:lstStyle/>
          <a:p>
            <a:r>
              <a:rPr lang="en-US" dirty="0"/>
              <a:t>P, Q, R, S and T are related and belong to the same family. P is brother of S; Q is wife of P. R and T are children of siblings P and S respectively. Which of the following must necessarily false.</a:t>
            </a:r>
          </a:p>
          <a:p>
            <a:r>
              <a:rPr lang="en-US" dirty="0"/>
              <a:t>(a) S is sister in law of Q</a:t>
            </a:r>
          </a:p>
          <a:p>
            <a:r>
              <a:rPr lang="en-US" dirty="0"/>
              <a:t>(b) S is brother of P</a:t>
            </a:r>
          </a:p>
          <a:p>
            <a:r>
              <a:rPr lang="en-US" dirty="0"/>
              <a:t>(c) S is aunt of T</a:t>
            </a:r>
          </a:p>
          <a:p>
            <a:r>
              <a:rPr lang="en-US" dirty="0"/>
              <a:t>(d) S is aunt of R</a:t>
            </a:r>
          </a:p>
          <a:p>
            <a:endParaRPr lang="en-US" dirty="0"/>
          </a:p>
          <a:p>
            <a:endParaRPr lang="en-US" dirty="0"/>
          </a:p>
        </p:txBody>
      </p:sp>
    </p:spTree>
    <p:extLst>
      <p:ext uri="{BB962C8B-B14F-4D97-AF65-F5344CB8AC3E}">
        <p14:creationId xmlns:p14="http://schemas.microsoft.com/office/powerpoint/2010/main" val="672499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C81D0-BC97-67FE-4819-F893D7506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119A8-92BD-70C7-AF95-653D523BB1F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DFBB650E-2F8A-2FC7-D78B-FCC29AB41F30}"/>
              </a:ext>
            </a:extLst>
          </p:cNvPr>
          <p:cNvSpPr>
            <a:spLocks noGrp="1"/>
          </p:cNvSpPr>
          <p:nvPr>
            <p:ph idx="1"/>
          </p:nvPr>
        </p:nvSpPr>
        <p:spPr>
          <a:xfrm>
            <a:off x="1327354" y="711588"/>
            <a:ext cx="10196052" cy="5531896"/>
          </a:xfrm>
        </p:spPr>
        <p:txBody>
          <a:bodyPr/>
          <a:lstStyle/>
          <a:p>
            <a:r>
              <a:rPr lang="en-US" dirty="0"/>
              <a:t>A is B’s daughter, B is C’s mother. D is C’s brother. How is D related to A?</a:t>
            </a:r>
          </a:p>
          <a:p>
            <a:r>
              <a:rPr lang="en-US" dirty="0"/>
              <a:t>(a) Father   (b) Grandfather   (c) Brother    (d) Son</a:t>
            </a:r>
          </a:p>
          <a:p>
            <a:br>
              <a:rPr lang="en-US" dirty="0"/>
            </a:br>
            <a:endParaRPr lang="en-US" dirty="0"/>
          </a:p>
          <a:p>
            <a:endParaRPr lang="en-US" dirty="0"/>
          </a:p>
        </p:txBody>
      </p:sp>
    </p:spTree>
    <p:extLst>
      <p:ext uri="{BB962C8B-B14F-4D97-AF65-F5344CB8AC3E}">
        <p14:creationId xmlns:p14="http://schemas.microsoft.com/office/powerpoint/2010/main" val="359399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BC174-8D80-7523-9EA7-B3406E225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2F776-EB58-5CFD-069D-40444CE64D6F}"/>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F3890C82-5F44-BF63-53A0-B4644614B57C}"/>
              </a:ext>
            </a:extLst>
          </p:cNvPr>
          <p:cNvSpPr>
            <a:spLocks noGrp="1"/>
          </p:cNvSpPr>
          <p:nvPr>
            <p:ph idx="1"/>
          </p:nvPr>
        </p:nvSpPr>
        <p:spPr>
          <a:xfrm>
            <a:off x="1327354" y="711588"/>
            <a:ext cx="10196052" cy="5531896"/>
          </a:xfrm>
        </p:spPr>
        <p:txBody>
          <a:bodyPr/>
          <a:lstStyle/>
          <a:p>
            <a:r>
              <a:rPr lang="en-US" dirty="0"/>
              <a:t>P is Q’s brother. R is Q’s mother. S is R’s father. T is S’s mother. How is P related to T?</a:t>
            </a:r>
          </a:p>
          <a:p>
            <a:r>
              <a:rPr lang="en-US" dirty="0"/>
              <a:t>(a) Grand-daughter (b) Great grandson (c) Grandson (d) Grandmother</a:t>
            </a:r>
          </a:p>
          <a:p>
            <a:br>
              <a:rPr lang="en-US" dirty="0"/>
            </a:br>
            <a:endParaRPr lang="en-US" dirty="0"/>
          </a:p>
          <a:p>
            <a:endParaRPr lang="en-US" dirty="0"/>
          </a:p>
        </p:txBody>
      </p:sp>
    </p:spTree>
    <p:extLst>
      <p:ext uri="{BB962C8B-B14F-4D97-AF65-F5344CB8AC3E}">
        <p14:creationId xmlns:p14="http://schemas.microsoft.com/office/powerpoint/2010/main" val="73356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2961-1B39-E9E0-ABF2-269A449DB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1DDCB-3341-7A19-32BA-5702E9D8C56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5145920F-5E94-6D1B-766D-EB647CE2734A}"/>
              </a:ext>
            </a:extLst>
          </p:cNvPr>
          <p:cNvSpPr>
            <a:spLocks noGrp="1"/>
          </p:cNvSpPr>
          <p:nvPr>
            <p:ph idx="1"/>
          </p:nvPr>
        </p:nvSpPr>
        <p:spPr>
          <a:xfrm>
            <a:off x="1327354" y="711588"/>
            <a:ext cx="10196052" cy="5531896"/>
          </a:xfrm>
        </p:spPr>
        <p:txBody>
          <a:bodyPr/>
          <a:lstStyle/>
          <a:p>
            <a:r>
              <a:rPr lang="en-US" dirty="0"/>
              <a:t>A is B’s brother. C is D’s father. E is B’s mother. A and D are brothers. How is E related to C?</a:t>
            </a:r>
          </a:p>
          <a:p>
            <a:r>
              <a:rPr lang="en-US" dirty="0"/>
              <a:t>(a) Sister (b) Sister-in-law (c) Niece (d) Wife</a:t>
            </a:r>
          </a:p>
          <a:p>
            <a:br>
              <a:rPr lang="en-US" dirty="0"/>
            </a:br>
            <a:endParaRPr lang="en-US" dirty="0"/>
          </a:p>
          <a:p>
            <a:endParaRPr lang="en-US" dirty="0"/>
          </a:p>
        </p:txBody>
      </p:sp>
    </p:spTree>
    <p:extLst>
      <p:ext uri="{BB962C8B-B14F-4D97-AF65-F5344CB8AC3E}">
        <p14:creationId xmlns:p14="http://schemas.microsoft.com/office/powerpoint/2010/main" val="2619730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DC2D-CC15-1528-EBA6-F194AAF1C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7A905-EE5F-3F74-13C6-AB5B5B905EF5}"/>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24A789EC-6306-4BD0-D0CF-106F26D86444}"/>
              </a:ext>
            </a:extLst>
          </p:cNvPr>
          <p:cNvSpPr>
            <a:spLocks noGrp="1"/>
          </p:cNvSpPr>
          <p:nvPr>
            <p:ph idx="1"/>
          </p:nvPr>
        </p:nvSpPr>
        <p:spPr>
          <a:xfrm>
            <a:off x="1327354" y="711588"/>
            <a:ext cx="10196052" cy="5531896"/>
          </a:xfrm>
        </p:spPr>
        <p:txBody>
          <a:bodyPr/>
          <a:lstStyle/>
          <a:p>
            <a:r>
              <a:rPr lang="en-US" dirty="0"/>
              <a:t>A is the sister of B. B is the brother of C. C is the son of D. How is D related to A?</a:t>
            </a:r>
          </a:p>
          <a:p>
            <a:r>
              <a:rPr lang="en-US" dirty="0"/>
              <a:t> (a) Mother (b) Daughter (c) Son (d) Uncle</a:t>
            </a:r>
          </a:p>
          <a:p>
            <a:br>
              <a:rPr lang="en-US" dirty="0"/>
            </a:br>
            <a:endParaRPr lang="en-US" dirty="0"/>
          </a:p>
          <a:p>
            <a:endParaRPr lang="en-US" dirty="0"/>
          </a:p>
        </p:txBody>
      </p:sp>
    </p:spTree>
    <p:extLst>
      <p:ext uri="{BB962C8B-B14F-4D97-AF65-F5344CB8AC3E}">
        <p14:creationId xmlns:p14="http://schemas.microsoft.com/office/powerpoint/2010/main" val="2821504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1FE7D-2FFC-D321-F8B9-12A6CA6A5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D383C-43B0-8886-658A-690181BAF644}"/>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33BFBA7D-7FE0-2FE4-1843-494D3900F4D6}"/>
              </a:ext>
            </a:extLst>
          </p:cNvPr>
          <p:cNvSpPr>
            <a:spLocks noGrp="1"/>
          </p:cNvSpPr>
          <p:nvPr>
            <p:ph idx="1"/>
          </p:nvPr>
        </p:nvSpPr>
        <p:spPr>
          <a:xfrm>
            <a:off x="1327354" y="711588"/>
            <a:ext cx="10196052" cy="5531896"/>
          </a:xfrm>
        </p:spPr>
        <p:txBody>
          <a:bodyPr/>
          <a:lstStyle/>
          <a:p>
            <a:r>
              <a:rPr lang="en-US" dirty="0"/>
              <a:t>B is the brother of A. whose only sister is mother of C. D is maternal grandmother of C. How is A related to D?</a:t>
            </a:r>
          </a:p>
          <a:p>
            <a:r>
              <a:rPr lang="en-US" dirty="0"/>
              <a:t>(a) Daughter-in-law (b) Daughter (c) Aunt (d) Nephew</a:t>
            </a:r>
          </a:p>
          <a:p>
            <a:br>
              <a:rPr lang="en-US" dirty="0"/>
            </a:br>
            <a:endParaRPr lang="en-US" dirty="0"/>
          </a:p>
          <a:p>
            <a:endParaRPr lang="en-US" dirty="0"/>
          </a:p>
        </p:txBody>
      </p:sp>
    </p:spTree>
    <p:extLst>
      <p:ext uri="{BB962C8B-B14F-4D97-AF65-F5344CB8AC3E}">
        <p14:creationId xmlns:p14="http://schemas.microsoft.com/office/powerpoint/2010/main" val="2112422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072C9-D365-EFE8-6286-F68B982E2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8A29B-39E3-468D-144D-7EB1FD6BC960}"/>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F7AC981F-529F-62D6-E7B3-B5C772BFCA3C}"/>
              </a:ext>
            </a:extLst>
          </p:cNvPr>
          <p:cNvSpPr>
            <a:spLocks noGrp="1"/>
          </p:cNvSpPr>
          <p:nvPr>
            <p:ph idx="1"/>
          </p:nvPr>
        </p:nvSpPr>
        <p:spPr>
          <a:xfrm>
            <a:off x="1327354" y="711588"/>
            <a:ext cx="10196052" cy="5531896"/>
          </a:xfrm>
        </p:spPr>
        <p:txBody>
          <a:bodyPr/>
          <a:lstStyle/>
          <a:p>
            <a:r>
              <a:rPr lang="en-US" dirty="0"/>
              <a:t>A and B are sisters. R and S are brothers. A’s daughter is R’s sister. What is B’s relation to S?</a:t>
            </a:r>
          </a:p>
          <a:p>
            <a:r>
              <a:rPr lang="en-US" dirty="0"/>
              <a:t>(a) Mother (b) Grandmother (c) Sister (d) Aunt</a:t>
            </a:r>
          </a:p>
          <a:p>
            <a:br>
              <a:rPr lang="en-US" dirty="0"/>
            </a:br>
            <a:endParaRPr lang="en-US" dirty="0"/>
          </a:p>
          <a:p>
            <a:endParaRPr lang="en-US" dirty="0"/>
          </a:p>
        </p:txBody>
      </p:sp>
    </p:spTree>
    <p:extLst>
      <p:ext uri="{BB962C8B-B14F-4D97-AF65-F5344CB8AC3E}">
        <p14:creationId xmlns:p14="http://schemas.microsoft.com/office/powerpoint/2010/main" val="462636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23D41-F54A-4917-F5B2-BB846CAD4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A14BF-C6D3-2D98-62BD-BAC07E275117}"/>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48141BC6-6100-7846-336E-B13F018198C7}"/>
              </a:ext>
            </a:extLst>
          </p:cNvPr>
          <p:cNvSpPr>
            <a:spLocks noGrp="1"/>
          </p:cNvSpPr>
          <p:nvPr>
            <p:ph idx="1"/>
          </p:nvPr>
        </p:nvSpPr>
        <p:spPr>
          <a:xfrm>
            <a:off x="1327354" y="711588"/>
            <a:ext cx="10196052" cy="5531896"/>
          </a:xfrm>
        </p:spPr>
        <p:txBody>
          <a:bodyPr/>
          <a:lstStyle/>
          <a:p>
            <a:r>
              <a:rPr lang="en-US" dirty="0"/>
              <a:t>E is the sister of B. A is the father of C. B is the son of C. How is A related to E?</a:t>
            </a:r>
          </a:p>
          <a:p>
            <a:r>
              <a:rPr lang="en-US" dirty="0"/>
              <a:t>(a) Grandfather (b) Grand-daughter (c) Father (d) Great-grandfather</a:t>
            </a:r>
          </a:p>
          <a:p>
            <a:br>
              <a:rPr lang="en-US" dirty="0"/>
            </a:br>
            <a:endParaRPr lang="en-US" dirty="0"/>
          </a:p>
          <a:p>
            <a:endParaRPr lang="en-US" dirty="0"/>
          </a:p>
        </p:txBody>
      </p:sp>
    </p:spTree>
    <p:extLst>
      <p:ext uri="{BB962C8B-B14F-4D97-AF65-F5344CB8AC3E}">
        <p14:creationId xmlns:p14="http://schemas.microsoft.com/office/powerpoint/2010/main" val="3222351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59E9-46C5-22BF-768A-A3419F2CC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23216-5D46-F920-BA49-9EE2E6933157}"/>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0B07D7DF-ABDB-3BF5-D3EB-5B6387F6BCEC}"/>
              </a:ext>
            </a:extLst>
          </p:cNvPr>
          <p:cNvSpPr>
            <a:spLocks noGrp="1"/>
          </p:cNvSpPr>
          <p:nvPr>
            <p:ph idx="1"/>
          </p:nvPr>
        </p:nvSpPr>
        <p:spPr>
          <a:xfrm>
            <a:off x="1327354" y="711588"/>
            <a:ext cx="10196052" cy="5531896"/>
          </a:xfrm>
        </p:spPr>
        <p:txBody>
          <a:bodyPr/>
          <a:lstStyle/>
          <a:p>
            <a:r>
              <a:rPr lang="en-US" dirty="0"/>
              <a:t> Given that:</a:t>
            </a:r>
          </a:p>
          <a:p>
            <a:r>
              <a:rPr lang="en-US" dirty="0"/>
              <a:t> A is the mother of B.</a:t>
            </a:r>
          </a:p>
          <a:p>
            <a:r>
              <a:rPr lang="en-US" dirty="0"/>
              <a:t> C is the son of A.</a:t>
            </a:r>
          </a:p>
          <a:p>
            <a:r>
              <a:rPr lang="en-US" dirty="0"/>
              <a:t> D is the brother of E.</a:t>
            </a:r>
          </a:p>
          <a:p>
            <a:r>
              <a:rPr lang="en-US" dirty="0"/>
              <a:t> E is the daughter of B.</a:t>
            </a:r>
          </a:p>
          <a:p>
            <a:r>
              <a:rPr lang="en-US" dirty="0"/>
              <a:t> Who is grandmother of D?</a:t>
            </a:r>
          </a:p>
          <a:p>
            <a:r>
              <a:rPr lang="en-US" dirty="0"/>
              <a:t> (a) A (b) B (c) C (d) D</a:t>
            </a:r>
          </a:p>
          <a:p>
            <a:br>
              <a:rPr lang="en-US" dirty="0"/>
            </a:br>
            <a:endParaRPr lang="en-US" dirty="0"/>
          </a:p>
          <a:p>
            <a:endParaRPr lang="en-US" dirty="0"/>
          </a:p>
        </p:txBody>
      </p:sp>
    </p:spTree>
    <p:extLst>
      <p:ext uri="{BB962C8B-B14F-4D97-AF65-F5344CB8AC3E}">
        <p14:creationId xmlns:p14="http://schemas.microsoft.com/office/powerpoint/2010/main" val="793213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727F-9DFA-4E14-D9BC-1D9D8113E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C396F-7C2A-E9DE-5828-767030D3BE53}"/>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07348337-24EA-E76E-FD0B-75F791E7C279}"/>
              </a:ext>
            </a:extLst>
          </p:cNvPr>
          <p:cNvSpPr>
            <a:spLocks noGrp="1"/>
          </p:cNvSpPr>
          <p:nvPr>
            <p:ph idx="1"/>
          </p:nvPr>
        </p:nvSpPr>
        <p:spPr>
          <a:xfrm>
            <a:off x="1327354" y="711588"/>
            <a:ext cx="10196052" cy="5531896"/>
          </a:xfrm>
        </p:spPr>
        <p:txBody>
          <a:bodyPr/>
          <a:lstStyle/>
          <a:p>
            <a:r>
              <a:rPr lang="en-US" dirty="0"/>
              <a:t>A is D’ brother. D is B’s father. B and C are sisters. How is A related to C?</a:t>
            </a:r>
          </a:p>
          <a:p>
            <a:r>
              <a:rPr lang="en-US" dirty="0"/>
              <a:t> (a) Son (b) Grandson (c) Father (d) Uncle</a:t>
            </a:r>
          </a:p>
          <a:p>
            <a:br>
              <a:rPr lang="en-US" dirty="0"/>
            </a:br>
            <a:endParaRPr lang="en-US" dirty="0"/>
          </a:p>
          <a:p>
            <a:endParaRPr lang="en-US" dirty="0"/>
          </a:p>
        </p:txBody>
      </p:sp>
    </p:spTree>
    <p:extLst>
      <p:ext uri="{BB962C8B-B14F-4D97-AF65-F5344CB8AC3E}">
        <p14:creationId xmlns:p14="http://schemas.microsoft.com/office/powerpoint/2010/main" val="2585614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AD94-1956-134E-5161-38F54EEC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20F21-1294-82CD-77AF-C4E714B71B4B}"/>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7F0D7D63-B174-912A-3B74-2DA68A95F8D9}"/>
              </a:ext>
            </a:extLst>
          </p:cNvPr>
          <p:cNvSpPr>
            <a:spLocks noGrp="1"/>
          </p:cNvSpPr>
          <p:nvPr>
            <p:ph idx="1"/>
          </p:nvPr>
        </p:nvSpPr>
        <p:spPr>
          <a:xfrm>
            <a:off x="1327354" y="711588"/>
            <a:ext cx="10196052" cy="5531896"/>
          </a:xfrm>
        </p:spPr>
        <p:txBody>
          <a:bodyPr/>
          <a:lstStyle/>
          <a:p>
            <a:r>
              <a:rPr lang="en-US" dirty="0"/>
              <a:t> A is B’s sister, C is B’s mother, D is C’s father, E is D’s mother, then how A is related to D?</a:t>
            </a:r>
          </a:p>
          <a:p>
            <a:r>
              <a:rPr lang="en-US" dirty="0"/>
              <a:t> (a) Grandfather (b) Daughter (c) Grandmother (d) Granddaughter</a:t>
            </a:r>
          </a:p>
          <a:p>
            <a:br>
              <a:rPr lang="en-US" dirty="0"/>
            </a:br>
            <a:endParaRPr lang="en-US" dirty="0"/>
          </a:p>
          <a:p>
            <a:endParaRPr lang="en-US" dirty="0"/>
          </a:p>
        </p:txBody>
      </p:sp>
    </p:spTree>
    <p:extLst>
      <p:ext uri="{BB962C8B-B14F-4D97-AF65-F5344CB8AC3E}">
        <p14:creationId xmlns:p14="http://schemas.microsoft.com/office/powerpoint/2010/main" val="3018179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7F65C-3F53-0F9D-BEAD-34CD21355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6DBC7-748E-0899-9928-4F4F0632DBAF}"/>
              </a:ext>
            </a:extLst>
          </p:cNvPr>
          <p:cNvSpPr>
            <a:spLocks noGrp="1"/>
          </p:cNvSpPr>
          <p:nvPr>
            <p:ph type="title"/>
          </p:nvPr>
        </p:nvSpPr>
        <p:spPr>
          <a:xfrm>
            <a:off x="570271" y="963562"/>
            <a:ext cx="9409471" cy="589935"/>
          </a:xfrm>
        </p:spPr>
        <p:txBody>
          <a:bodyPr/>
          <a:lstStyle/>
          <a:p>
            <a:r>
              <a:rPr lang="en-US" dirty="0"/>
              <a:t>Single Person Blood Relation</a:t>
            </a:r>
          </a:p>
        </p:txBody>
      </p:sp>
      <p:sp>
        <p:nvSpPr>
          <p:cNvPr id="3" name="Text Placeholder 2">
            <a:extLst>
              <a:ext uri="{FF2B5EF4-FFF2-40B4-BE49-F238E27FC236}">
                <a16:creationId xmlns:a16="http://schemas.microsoft.com/office/drawing/2014/main" id="{15E52704-029E-5E37-4280-2605255EAD1B}"/>
              </a:ext>
            </a:extLst>
          </p:cNvPr>
          <p:cNvSpPr>
            <a:spLocks noGrp="1"/>
          </p:cNvSpPr>
          <p:nvPr>
            <p:ph idx="1"/>
          </p:nvPr>
        </p:nvSpPr>
        <p:spPr>
          <a:xfrm>
            <a:off x="570271" y="1956619"/>
            <a:ext cx="10196052" cy="3480619"/>
          </a:xfrm>
        </p:spPr>
        <p:txBody>
          <a:bodyPr/>
          <a:lstStyle/>
          <a:p>
            <a:r>
              <a:rPr lang="en-US" dirty="0"/>
              <a:t>Direct</a:t>
            </a:r>
          </a:p>
          <a:p>
            <a:endParaRPr lang="en-US" dirty="0"/>
          </a:p>
          <a:p>
            <a:r>
              <a:rPr lang="en-US" dirty="0"/>
              <a:t>Indirect</a:t>
            </a:r>
          </a:p>
          <a:p>
            <a:br>
              <a:rPr lang="en-US" dirty="0"/>
            </a:br>
            <a:endParaRPr lang="en-US" dirty="0"/>
          </a:p>
          <a:p>
            <a:endParaRPr lang="en-US" dirty="0"/>
          </a:p>
        </p:txBody>
      </p:sp>
    </p:spTree>
    <p:extLst>
      <p:ext uri="{BB962C8B-B14F-4D97-AF65-F5344CB8AC3E}">
        <p14:creationId xmlns:p14="http://schemas.microsoft.com/office/powerpoint/2010/main" val="1804300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37C9-23A2-55F3-3DCE-D7B14E59E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FDFCE-83BC-7188-1F0B-2F749A43CF10}"/>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B54E700B-3490-CE28-EBED-E9D6C5F0089C}"/>
              </a:ext>
            </a:extLst>
          </p:cNvPr>
          <p:cNvSpPr>
            <a:spLocks noGrp="1"/>
          </p:cNvSpPr>
          <p:nvPr>
            <p:ph idx="1"/>
          </p:nvPr>
        </p:nvSpPr>
        <p:spPr>
          <a:xfrm>
            <a:off x="1327354" y="711588"/>
            <a:ext cx="10196052" cy="5531896"/>
          </a:xfrm>
        </p:spPr>
        <p:txBody>
          <a:bodyPr/>
          <a:lstStyle/>
          <a:p>
            <a:r>
              <a:rPr lang="en-US" dirty="0"/>
              <a:t>Suresh introduces a man as “He is the son of the woman who is the mother of the husband of my mother”. How is Suresh related to the man?</a:t>
            </a:r>
          </a:p>
          <a:p>
            <a:r>
              <a:rPr lang="en-US" dirty="0"/>
              <a:t> (a) Uncle (b) Son (c) Cousin (d) Grandson</a:t>
            </a:r>
          </a:p>
        </p:txBody>
      </p:sp>
    </p:spTree>
    <p:extLst>
      <p:ext uri="{BB962C8B-B14F-4D97-AF65-F5344CB8AC3E}">
        <p14:creationId xmlns:p14="http://schemas.microsoft.com/office/powerpoint/2010/main" val="1681990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FE22D-3ACD-E628-1358-EB8C7B658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56EA0-FE95-4037-AD71-49005C068F8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DB64D64A-C6D7-A7C1-8DEC-7C37BEAD53A8}"/>
              </a:ext>
            </a:extLst>
          </p:cNvPr>
          <p:cNvSpPr>
            <a:spLocks noGrp="1"/>
          </p:cNvSpPr>
          <p:nvPr>
            <p:ph idx="1"/>
          </p:nvPr>
        </p:nvSpPr>
        <p:spPr>
          <a:xfrm>
            <a:off x="1327354" y="711588"/>
            <a:ext cx="10196052" cy="5531896"/>
          </a:xfrm>
        </p:spPr>
        <p:txBody>
          <a:bodyPr/>
          <a:lstStyle/>
          <a:p>
            <a:r>
              <a:rPr lang="en-US" dirty="0"/>
              <a:t>Pointing to a lady in a photograph. Meera said. “Her father’s only son’s wife is my mother-in-law” . How is Meera’s husband related to that lady in the photo?</a:t>
            </a:r>
          </a:p>
          <a:p>
            <a:r>
              <a:rPr lang="en-US" dirty="0"/>
              <a:t> (a) Nephew (b) Uncle (c) Son (d) Father</a:t>
            </a:r>
          </a:p>
        </p:txBody>
      </p:sp>
    </p:spTree>
    <p:extLst>
      <p:ext uri="{BB962C8B-B14F-4D97-AF65-F5344CB8AC3E}">
        <p14:creationId xmlns:p14="http://schemas.microsoft.com/office/powerpoint/2010/main" val="364498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7005-9CB1-1AC9-A075-43A64204D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3C466-B0E9-F22B-D5DD-86764F8DA54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47E8611B-A295-8019-C150-79FBD0368B30}"/>
              </a:ext>
            </a:extLst>
          </p:cNvPr>
          <p:cNvSpPr>
            <a:spLocks noGrp="1"/>
          </p:cNvSpPr>
          <p:nvPr>
            <p:ph idx="1"/>
          </p:nvPr>
        </p:nvSpPr>
        <p:spPr>
          <a:xfrm>
            <a:off x="1327354" y="711588"/>
            <a:ext cx="10196052" cy="5531896"/>
          </a:xfrm>
        </p:spPr>
        <p:txBody>
          <a:bodyPr/>
          <a:lstStyle/>
          <a:p>
            <a:r>
              <a:rPr lang="en-US" dirty="0"/>
              <a:t>Pointing to a photograph Vikas said “She is the daughter of my grandfather’s only son”. How is</a:t>
            </a:r>
          </a:p>
          <a:p>
            <a:r>
              <a:rPr lang="en-US" dirty="0"/>
              <a:t>lady in the photograph related to Vikas in the photograph?</a:t>
            </a:r>
          </a:p>
          <a:p>
            <a:r>
              <a:rPr lang="en-US" dirty="0"/>
              <a:t> (a) Father (b) Brother (c) Sister (d) Mother</a:t>
            </a:r>
          </a:p>
        </p:txBody>
      </p:sp>
    </p:spTree>
    <p:extLst>
      <p:ext uri="{BB962C8B-B14F-4D97-AF65-F5344CB8AC3E}">
        <p14:creationId xmlns:p14="http://schemas.microsoft.com/office/powerpoint/2010/main" val="2223947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BCAB3-8D01-A499-3FFE-7FDF7C10B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2195D-45B3-1959-CFAB-BE59131B02C9}"/>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131A8E34-D299-9046-0FB3-2E8C32F810E3}"/>
              </a:ext>
            </a:extLst>
          </p:cNvPr>
          <p:cNvSpPr>
            <a:spLocks noGrp="1"/>
          </p:cNvSpPr>
          <p:nvPr>
            <p:ph idx="1"/>
          </p:nvPr>
        </p:nvSpPr>
        <p:spPr>
          <a:xfrm>
            <a:off x="1327354" y="711588"/>
            <a:ext cx="10196052" cy="5531896"/>
          </a:xfrm>
        </p:spPr>
        <p:txBody>
          <a:bodyPr/>
          <a:lstStyle/>
          <a:p>
            <a:r>
              <a:rPr lang="en-US" dirty="0"/>
              <a:t>Suresh’s sister is the wife of Ram. Ram is Rani’s brother. Ram’s father is Madhur. Sheetal is Ram’s</a:t>
            </a:r>
          </a:p>
          <a:p>
            <a:r>
              <a:rPr lang="en-US" dirty="0"/>
              <a:t>grandmother. Rema is Sheetal is daughter-in-law. Rohit is Rani’s brother’s son. Who is Rohit to</a:t>
            </a:r>
          </a:p>
          <a:p>
            <a:r>
              <a:rPr lang="en-US" dirty="0"/>
              <a:t>Suresh?</a:t>
            </a:r>
          </a:p>
          <a:p>
            <a:r>
              <a:rPr lang="en-US" dirty="0"/>
              <a:t>(a) Brother-in-law   (b) Son   (c) Brother   (d) Nephew</a:t>
            </a:r>
          </a:p>
        </p:txBody>
      </p:sp>
    </p:spTree>
    <p:extLst>
      <p:ext uri="{BB962C8B-B14F-4D97-AF65-F5344CB8AC3E}">
        <p14:creationId xmlns:p14="http://schemas.microsoft.com/office/powerpoint/2010/main" val="2873769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3227-1585-10A4-A0C0-A3350864F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50724-4DAE-4D02-E87C-FDB1E6D617D3}"/>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93AEFA4E-46C9-D200-7FE4-6B00239F1574}"/>
              </a:ext>
            </a:extLst>
          </p:cNvPr>
          <p:cNvSpPr>
            <a:spLocks noGrp="1"/>
          </p:cNvSpPr>
          <p:nvPr>
            <p:ph idx="1"/>
          </p:nvPr>
        </p:nvSpPr>
        <p:spPr>
          <a:xfrm>
            <a:off x="1327354" y="711588"/>
            <a:ext cx="10196052" cy="5531896"/>
          </a:xfrm>
        </p:spPr>
        <p:txBody>
          <a:bodyPr/>
          <a:lstStyle/>
          <a:p>
            <a:r>
              <a:rPr lang="en-US" dirty="0"/>
              <a:t>Vinod introduces Vishal as the son of the only brother of his father’s wife. How is Vinod related</a:t>
            </a:r>
          </a:p>
          <a:p>
            <a:r>
              <a:rPr lang="en-US" dirty="0"/>
              <a:t>to Vishal?</a:t>
            </a:r>
          </a:p>
          <a:p>
            <a:r>
              <a:rPr lang="en-US" dirty="0"/>
              <a:t> (a) Cousin (b) Brother (c) Son (d) Uncle</a:t>
            </a:r>
          </a:p>
        </p:txBody>
      </p:sp>
    </p:spTree>
    <p:extLst>
      <p:ext uri="{BB962C8B-B14F-4D97-AF65-F5344CB8AC3E}">
        <p14:creationId xmlns:p14="http://schemas.microsoft.com/office/powerpoint/2010/main" val="3001389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391739" y="1554356"/>
            <a:ext cx="8406970" cy="994164"/>
          </a:xfrm>
        </p:spPr>
        <p:txBody>
          <a:bodyPr/>
          <a:lstStyle/>
          <a:p>
            <a:r>
              <a:rPr lang="en-US" dirty="0"/>
              <a:t>Direction sense &amp; Distance</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391739" y="2903103"/>
            <a:ext cx="7965460" cy="3497698"/>
          </a:xfrm>
        </p:spPr>
        <p:txBody>
          <a:bodyPr/>
          <a:lstStyle/>
          <a:p>
            <a:r>
              <a:rPr lang="en-US" dirty="0"/>
              <a:t>Main directions – East, West, South, North</a:t>
            </a:r>
          </a:p>
          <a:p>
            <a:r>
              <a:rPr lang="en-US" dirty="0"/>
              <a:t>Cardinal directions – E, SE, S, SW, W, NW, N, NE</a:t>
            </a:r>
          </a:p>
          <a:p>
            <a:r>
              <a:rPr lang="en-US" dirty="0"/>
              <a:t>Angle of movement – Clockwise and Anticlockwise (360^0)</a:t>
            </a:r>
          </a:p>
          <a:p>
            <a:r>
              <a:rPr lang="en-US" dirty="0"/>
              <a:t>Shadow - at the time of sunrise and sunset</a:t>
            </a:r>
          </a:p>
          <a:p>
            <a:r>
              <a:rPr lang="en-US" dirty="0"/>
              <a:t>Shortest distance </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US" dirty="0"/>
              <a:t>Example 1:</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2331791"/>
            <a:ext cx="6903076" cy="3721817"/>
          </a:xfrm>
        </p:spPr>
        <p:txBody>
          <a:bodyPr/>
          <a:lstStyle/>
          <a:p>
            <a:r>
              <a:rPr lang="en-US" dirty="0"/>
              <a:t>Ravi walks 8 km North-East and then 6 km South-East. Find the total distance as well as shortest distance between starting and end points. </a:t>
            </a:r>
          </a:p>
          <a:p>
            <a:pPr marL="457200" indent="-457200">
              <a:buAutoNum type="alphaUcPeriod"/>
            </a:pPr>
            <a:r>
              <a:rPr lang="en-US" dirty="0"/>
              <a:t>14 km, 12 km </a:t>
            </a:r>
          </a:p>
          <a:p>
            <a:pPr marL="457200" indent="-457200">
              <a:buAutoNum type="alphaUcPeriod"/>
            </a:pPr>
            <a:r>
              <a:rPr lang="en-US" dirty="0"/>
              <a:t>14 km, 10 km </a:t>
            </a:r>
          </a:p>
          <a:p>
            <a:pPr marL="457200" indent="-457200">
              <a:buAutoNum type="alphaUcPeriod"/>
            </a:pPr>
            <a:r>
              <a:rPr lang="en-US" dirty="0"/>
              <a:t>10 km, 8 km </a:t>
            </a:r>
          </a:p>
          <a:p>
            <a:pPr marL="457200" indent="-457200">
              <a:buAutoNum type="alphaUcPeriod"/>
            </a:pPr>
            <a:r>
              <a:rPr lang="en-US" dirty="0"/>
              <a:t>8 km, 6 km </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flipH="1">
            <a:off x="12565626" y="1312606"/>
            <a:ext cx="993058" cy="600074"/>
          </a:xfrm>
        </p:spPr>
        <p:txBody>
          <a:bodyPr/>
          <a:lstStyle/>
          <a:p>
            <a:endParaRPr lang="en-US" dirty="0"/>
          </a:p>
        </p:txBody>
      </p:sp>
    </p:spTree>
    <p:extLst>
      <p:ext uri="{BB962C8B-B14F-4D97-AF65-F5344CB8AC3E}">
        <p14:creationId xmlns:p14="http://schemas.microsoft.com/office/powerpoint/2010/main" val="4072101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CE14C-E549-BAE5-B062-1F20212C1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CD0CA-9927-67B0-409B-B984B4825648}"/>
              </a:ext>
            </a:extLst>
          </p:cNvPr>
          <p:cNvSpPr>
            <a:spLocks noGrp="1"/>
          </p:cNvSpPr>
          <p:nvPr>
            <p:ph type="title"/>
          </p:nvPr>
        </p:nvSpPr>
        <p:spPr>
          <a:xfrm>
            <a:off x="540774" y="1415846"/>
            <a:ext cx="757083" cy="589935"/>
          </a:xfrm>
        </p:spPr>
        <p:txBody>
          <a:bodyPr/>
          <a:lstStyle/>
          <a:p>
            <a:r>
              <a:rPr lang="en-US" dirty="0"/>
              <a:t>Q.</a:t>
            </a:r>
          </a:p>
        </p:txBody>
      </p:sp>
      <p:sp>
        <p:nvSpPr>
          <p:cNvPr id="3" name="Text Placeholder 2">
            <a:extLst>
              <a:ext uri="{FF2B5EF4-FFF2-40B4-BE49-F238E27FC236}">
                <a16:creationId xmlns:a16="http://schemas.microsoft.com/office/drawing/2014/main" id="{274EB8F1-269B-AAF9-2A9C-4381F098A68E}"/>
              </a:ext>
            </a:extLst>
          </p:cNvPr>
          <p:cNvSpPr>
            <a:spLocks noGrp="1"/>
          </p:cNvSpPr>
          <p:nvPr>
            <p:ph idx="1"/>
          </p:nvPr>
        </p:nvSpPr>
        <p:spPr>
          <a:xfrm>
            <a:off x="1327354" y="1547330"/>
            <a:ext cx="10196052" cy="5531896"/>
          </a:xfrm>
        </p:spPr>
        <p:txBody>
          <a:bodyPr/>
          <a:lstStyle/>
          <a:p>
            <a:r>
              <a:rPr lang="en-US" dirty="0"/>
              <a:t>Suman walks 15 km towards North. She turns right and walks another 15 km. She turns right and walks another 15 km. In which direction is she from the starting point?</a:t>
            </a:r>
          </a:p>
          <a:p>
            <a:r>
              <a:rPr lang="en-US" dirty="0"/>
              <a:t> A. North     B. South    C. East    D. West</a:t>
            </a:r>
          </a:p>
        </p:txBody>
      </p:sp>
      <p:sp>
        <p:nvSpPr>
          <p:cNvPr id="5" name="TextBox 4">
            <a:extLst>
              <a:ext uri="{FF2B5EF4-FFF2-40B4-BE49-F238E27FC236}">
                <a16:creationId xmlns:a16="http://schemas.microsoft.com/office/drawing/2014/main" id="{4EA56102-2549-54F7-29C1-1636ECCEFA50}"/>
              </a:ext>
            </a:extLst>
          </p:cNvPr>
          <p:cNvSpPr txBox="1"/>
          <p:nvPr/>
        </p:nvSpPr>
        <p:spPr>
          <a:xfrm>
            <a:off x="540774" y="712215"/>
            <a:ext cx="6105832" cy="523220"/>
          </a:xfrm>
          <a:prstGeom prst="rect">
            <a:avLst/>
          </a:prstGeom>
          <a:noFill/>
        </p:spPr>
        <p:txBody>
          <a:bodyPr wrap="square">
            <a:spAutoFit/>
          </a:bodyPr>
          <a:lstStyle/>
          <a:p>
            <a:r>
              <a:rPr lang="en-US" sz="2800" b="1" dirty="0">
                <a:solidFill>
                  <a:schemeClr val="accent6"/>
                </a:solidFill>
              </a:rPr>
              <a:t>Based on Final Direction</a:t>
            </a:r>
            <a:endParaRPr lang="en-IN" sz="2800" b="1" dirty="0">
              <a:solidFill>
                <a:schemeClr val="accent6"/>
              </a:solidFill>
            </a:endParaRPr>
          </a:p>
        </p:txBody>
      </p:sp>
    </p:spTree>
    <p:extLst>
      <p:ext uri="{BB962C8B-B14F-4D97-AF65-F5344CB8AC3E}">
        <p14:creationId xmlns:p14="http://schemas.microsoft.com/office/powerpoint/2010/main" val="539144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A1D89-6F37-2B5B-8857-8086C85B1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89E16-0311-7E2B-F67E-314BEEE3D8D7}"/>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79D22C66-9CF9-43BF-4511-62F100243C54}"/>
              </a:ext>
            </a:extLst>
          </p:cNvPr>
          <p:cNvSpPr>
            <a:spLocks noGrp="1"/>
          </p:cNvSpPr>
          <p:nvPr>
            <p:ph idx="1"/>
          </p:nvPr>
        </p:nvSpPr>
        <p:spPr>
          <a:xfrm>
            <a:off x="1327354" y="711588"/>
            <a:ext cx="10196052" cy="5531896"/>
          </a:xfrm>
        </p:spPr>
        <p:txBody>
          <a:bodyPr/>
          <a:lstStyle/>
          <a:p>
            <a:r>
              <a:rPr lang="en-US" dirty="0"/>
              <a:t>After starting from a point, a man walks 4 km towards West, then turning to his right he moves 4 km. After this, he again turns right and moves 4 km. Which choice given below indicates the correct direction in which he is from his starting point? </a:t>
            </a:r>
          </a:p>
          <a:p>
            <a:r>
              <a:rPr lang="en-US" dirty="0"/>
              <a:t>A. North     B. East    C. South     D. West</a:t>
            </a:r>
          </a:p>
        </p:txBody>
      </p:sp>
    </p:spTree>
    <p:extLst>
      <p:ext uri="{BB962C8B-B14F-4D97-AF65-F5344CB8AC3E}">
        <p14:creationId xmlns:p14="http://schemas.microsoft.com/office/powerpoint/2010/main" val="2383826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2CB00-DE8F-F977-2C7D-CEECA0D95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3B2A0-8B5F-652D-DFCE-EA2F0C62C476}"/>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AD488EA6-7530-CA57-A91B-0AD9981A9C38}"/>
              </a:ext>
            </a:extLst>
          </p:cNvPr>
          <p:cNvSpPr>
            <a:spLocks noGrp="1"/>
          </p:cNvSpPr>
          <p:nvPr>
            <p:ph idx="1"/>
          </p:nvPr>
        </p:nvSpPr>
        <p:spPr>
          <a:xfrm>
            <a:off x="1327354" y="711588"/>
            <a:ext cx="10196052" cy="5531896"/>
          </a:xfrm>
        </p:spPr>
        <p:txBody>
          <a:bodyPr/>
          <a:lstStyle/>
          <a:p>
            <a:r>
              <a:rPr lang="en-US" dirty="0"/>
              <a:t>If South-West becomes North, then what will North-East be? </a:t>
            </a:r>
          </a:p>
          <a:p>
            <a:r>
              <a:rPr lang="en-US" dirty="0"/>
              <a:t>A. North        B. South-East         C. South         D. East</a:t>
            </a:r>
          </a:p>
        </p:txBody>
      </p:sp>
    </p:spTree>
    <p:extLst>
      <p:ext uri="{BB962C8B-B14F-4D97-AF65-F5344CB8AC3E}">
        <p14:creationId xmlns:p14="http://schemas.microsoft.com/office/powerpoint/2010/main" val="1046967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522E-1956-35DA-2F6D-D555CAE6C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632E6-3196-9E15-8620-335CBF5079D3}"/>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75A52A8D-463C-BF41-505F-CE0CFFCD3EFD}"/>
              </a:ext>
            </a:extLst>
          </p:cNvPr>
          <p:cNvSpPr>
            <a:spLocks noGrp="1"/>
          </p:cNvSpPr>
          <p:nvPr>
            <p:ph idx="1"/>
          </p:nvPr>
        </p:nvSpPr>
        <p:spPr>
          <a:xfrm>
            <a:off x="1327354" y="711588"/>
            <a:ext cx="10196052" cy="5531896"/>
          </a:xfrm>
        </p:spPr>
        <p:txBody>
          <a:bodyPr/>
          <a:lstStyle/>
          <a:p>
            <a:r>
              <a:rPr lang="en-US" dirty="0"/>
              <a:t>A clock is so placed that at 12 noon its minute hand points towards North-East. In which direction does its hour hand point at 1:30 pm?</a:t>
            </a:r>
          </a:p>
          <a:p>
            <a:r>
              <a:rPr lang="en-US" dirty="0"/>
              <a:t>A. North        B. South        C. East      D. West</a:t>
            </a:r>
          </a:p>
        </p:txBody>
      </p:sp>
    </p:spTree>
    <p:extLst>
      <p:ext uri="{BB962C8B-B14F-4D97-AF65-F5344CB8AC3E}">
        <p14:creationId xmlns:p14="http://schemas.microsoft.com/office/powerpoint/2010/main" val="543053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3FA6-8937-D256-A683-E16EAC1E5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DA7B6-7B48-E246-10DC-F3B35AC88123}"/>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DC36D09C-3E5C-0367-7E8A-4D2334721035}"/>
              </a:ext>
            </a:extLst>
          </p:cNvPr>
          <p:cNvSpPr>
            <a:spLocks noGrp="1"/>
          </p:cNvSpPr>
          <p:nvPr>
            <p:ph idx="1"/>
          </p:nvPr>
        </p:nvSpPr>
        <p:spPr>
          <a:xfrm>
            <a:off x="1327354" y="711588"/>
            <a:ext cx="10196052" cy="5531896"/>
          </a:xfrm>
        </p:spPr>
        <p:txBody>
          <a:bodyPr/>
          <a:lstStyle/>
          <a:p>
            <a:r>
              <a:rPr lang="en-US" dirty="0"/>
              <a:t>A girl is facing North. She turns 180° in the anti-clockwise direction and then 225° in the clockwise direction. Which direction is she facing now? </a:t>
            </a:r>
          </a:p>
          <a:p>
            <a:r>
              <a:rPr lang="en-US" dirty="0"/>
              <a:t>A. West      B. North-East     C. South-West      D. East       E. North-West</a:t>
            </a:r>
          </a:p>
        </p:txBody>
      </p:sp>
    </p:spTree>
    <p:extLst>
      <p:ext uri="{BB962C8B-B14F-4D97-AF65-F5344CB8AC3E}">
        <p14:creationId xmlns:p14="http://schemas.microsoft.com/office/powerpoint/2010/main" val="2585280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9F696-5128-506D-9069-B29025486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7FD3E-E23A-FE64-9357-F8C459EFEE22}"/>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48054721-4401-A52E-1896-4F99DE4AC553}"/>
              </a:ext>
            </a:extLst>
          </p:cNvPr>
          <p:cNvSpPr>
            <a:spLocks noGrp="1"/>
          </p:cNvSpPr>
          <p:nvPr>
            <p:ph idx="1"/>
          </p:nvPr>
        </p:nvSpPr>
        <p:spPr>
          <a:xfrm>
            <a:off x="1327354" y="711588"/>
            <a:ext cx="10196052" cy="5531896"/>
          </a:xfrm>
        </p:spPr>
        <p:txBody>
          <a:bodyPr/>
          <a:lstStyle/>
          <a:p>
            <a:r>
              <a:rPr lang="en-US" dirty="0"/>
              <a:t>A person walks towards his house at 8:00 am and observes his shadow to his right. In which direction he is walking? </a:t>
            </a:r>
          </a:p>
          <a:p>
            <a:r>
              <a:rPr lang="en-US" dirty="0"/>
              <a:t>A. North     B. South     C. East     D. west</a:t>
            </a:r>
          </a:p>
        </p:txBody>
      </p:sp>
    </p:spTree>
    <p:extLst>
      <p:ext uri="{BB962C8B-B14F-4D97-AF65-F5344CB8AC3E}">
        <p14:creationId xmlns:p14="http://schemas.microsoft.com/office/powerpoint/2010/main" val="1660851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DD56-10C5-A5AC-0FC0-F6208E3F5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FAB9D-C43F-CECA-8421-16522B34559A}"/>
              </a:ext>
            </a:extLst>
          </p:cNvPr>
          <p:cNvSpPr>
            <a:spLocks noGrp="1"/>
          </p:cNvSpPr>
          <p:nvPr>
            <p:ph type="title"/>
          </p:nvPr>
        </p:nvSpPr>
        <p:spPr>
          <a:xfrm>
            <a:off x="570271" y="1573162"/>
            <a:ext cx="757083" cy="589935"/>
          </a:xfrm>
        </p:spPr>
        <p:txBody>
          <a:bodyPr/>
          <a:lstStyle/>
          <a:p>
            <a:r>
              <a:rPr lang="en-US" dirty="0"/>
              <a:t>Q.</a:t>
            </a:r>
          </a:p>
        </p:txBody>
      </p:sp>
      <p:sp>
        <p:nvSpPr>
          <p:cNvPr id="3" name="Text Placeholder 2">
            <a:extLst>
              <a:ext uri="{FF2B5EF4-FFF2-40B4-BE49-F238E27FC236}">
                <a16:creationId xmlns:a16="http://schemas.microsoft.com/office/drawing/2014/main" id="{49F41AFA-D4C5-7447-28CE-25A7831BA88F}"/>
              </a:ext>
            </a:extLst>
          </p:cNvPr>
          <p:cNvSpPr>
            <a:spLocks noGrp="1"/>
          </p:cNvSpPr>
          <p:nvPr>
            <p:ph idx="1"/>
          </p:nvPr>
        </p:nvSpPr>
        <p:spPr>
          <a:xfrm>
            <a:off x="1327354" y="1684981"/>
            <a:ext cx="10196052" cy="5531896"/>
          </a:xfrm>
        </p:spPr>
        <p:txBody>
          <a:bodyPr/>
          <a:lstStyle/>
          <a:p>
            <a:r>
              <a:rPr lang="en-US" dirty="0"/>
              <a:t>Vijay travelled 12 km Southward, then turned right and travelled 10 km, then turned right and travelled 12 km. How far was Vijay from the starting point?</a:t>
            </a:r>
          </a:p>
          <a:p>
            <a:r>
              <a:rPr lang="en-US" dirty="0"/>
              <a:t>A. 22 km    B. 44 km    C. 12 km   D. 10 km</a:t>
            </a:r>
          </a:p>
        </p:txBody>
      </p:sp>
      <p:sp>
        <p:nvSpPr>
          <p:cNvPr id="7" name="TextBox 6">
            <a:extLst>
              <a:ext uri="{FF2B5EF4-FFF2-40B4-BE49-F238E27FC236}">
                <a16:creationId xmlns:a16="http://schemas.microsoft.com/office/drawing/2014/main" id="{1E7414E3-51CF-4C2E-EB78-473911E8B093}"/>
              </a:ext>
            </a:extLst>
          </p:cNvPr>
          <p:cNvSpPr txBox="1"/>
          <p:nvPr/>
        </p:nvSpPr>
        <p:spPr>
          <a:xfrm>
            <a:off x="570271" y="744401"/>
            <a:ext cx="6105832" cy="523220"/>
          </a:xfrm>
          <a:prstGeom prst="rect">
            <a:avLst/>
          </a:prstGeom>
          <a:noFill/>
        </p:spPr>
        <p:txBody>
          <a:bodyPr wrap="square">
            <a:spAutoFit/>
          </a:bodyPr>
          <a:lstStyle/>
          <a:p>
            <a:r>
              <a:rPr lang="en-US" sz="2800" b="1" dirty="0">
                <a:solidFill>
                  <a:schemeClr val="accent6"/>
                </a:solidFill>
              </a:rPr>
              <a:t>Based on Displacement</a:t>
            </a:r>
            <a:endParaRPr lang="en-IN" sz="2800" b="1" dirty="0">
              <a:solidFill>
                <a:schemeClr val="accent6"/>
              </a:solidFill>
            </a:endParaRPr>
          </a:p>
        </p:txBody>
      </p:sp>
    </p:spTree>
    <p:extLst>
      <p:ext uri="{BB962C8B-B14F-4D97-AF65-F5344CB8AC3E}">
        <p14:creationId xmlns:p14="http://schemas.microsoft.com/office/powerpoint/2010/main" val="3041604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9D19-BD5D-8208-A675-918D992DB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36575-CBD3-836C-69F2-F2A2040AE122}"/>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DDCCED00-E0F6-EDB8-8275-515C55C80CEC}"/>
              </a:ext>
            </a:extLst>
          </p:cNvPr>
          <p:cNvSpPr>
            <a:spLocks noGrp="1"/>
          </p:cNvSpPr>
          <p:nvPr>
            <p:ph idx="1"/>
          </p:nvPr>
        </p:nvSpPr>
        <p:spPr>
          <a:xfrm>
            <a:off x="1327354" y="711588"/>
            <a:ext cx="10196052" cy="5531896"/>
          </a:xfrm>
        </p:spPr>
        <p:txBody>
          <a:bodyPr/>
          <a:lstStyle/>
          <a:p>
            <a:r>
              <a:rPr lang="en-US" dirty="0"/>
              <a:t>A person starts from a point A and travels 3 km Eastwards to B and then turns left and travels thrice that distance to reach C. He again turns left and travels five times the distance he covered between A and B and reaches his destination D. The shortest distance between the starting point and the destination is </a:t>
            </a:r>
          </a:p>
          <a:p>
            <a:r>
              <a:rPr lang="en-US" dirty="0"/>
              <a:t>A. 12 km         B. 15 km          C. 16 km            D. 18 km </a:t>
            </a:r>
          </a:p>
        </p:txBody>
      </p:sp>
    </p:spTree>
    <p:extLst>
      <p:ext uri="{BB962C8B-B14F-4D97-AF65-F5344CB8AC3E}">
        <p14:creationId xmlns:p14="http://schemas.microsoft.com/office/powerpoint/2010/main" val="2024474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9FDA-06D8-B55B-8125-1F4FDB623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FCD26-37CE-28E0-77E4-507D28C266DE}"/>
              </a:ext>
            </a:extLst>
          </p:cNvPr>
          <p:cNvSpPr>
            <a:spLocks noGrp="1"/>
          </p:cNvSpPr>
          <p:nvPr>
            <p:ph type="title"/>
          </p:nvPr>
        </p:nvSpPr>
        <p:spPr>
          <a:xfrm>
            <a:off x="570271" y="1455175"/>
            <a:ext cx="757083" cy="589935"/>
          </a:xfrm>
        </p:spPr>
        <p:txBody>
          <a:bodyPr/>
          <a:lstStyle/>
          <a:p>
            <a:r>
              <a:rPr lang="en-US" dirty="0"/>
              <a:t>Q.</a:t>
            </a:r>
          </a:p>
        </p:txBody>
      </p:sp>
      <p:sp>
        <p:nvSpPr>
          <p:cNvPr id="3" name="Text Placeholder 2">
            <a:extLst>
              <a:ext uri="{FF2B5EF4-FFF2-40B4-BE49-F238E27FC236}">
                <a16:creationId xmlns:a16="http://schemas.microsoft.com/office/drawing/2014/main" id="{13EC065D-192A-99B1-070C-36BF114C6764}"/>
              </a:ext>
            </a:extLst>
          </p:cNvPr>
          <p:cNvSpPr>
            <a:spLocks noGrp="1"/>
          </p:cNvSpPr>
          <p:nvPr>
            <p:ph idx="1"/>
          </p:nvPr>
        </p:nvSpPr>
        <p:spPr>
          <a:xfrm>
            <a:off x="1415844" y="1596492"/>
            <a:ext cx="10196052" cy="5531896"/>
          </a:xfrm>
        </p:spPr>
        <p:txBody>
          <a:bodyPr/>
          <a:lstStyle/>
          <a:p>
            <a:r>
              <a:rPr lang="en-US" dirty="0"/>
              <a:t>Shyam, goes 5 km in the North from his school. Now, turning to the left, he goes to 10 km and again turns to left and goes to 5 km. How far he is from his school and in which direction? </a:t>
            </a:r>
          </a:p>
          <a:p>
            <a:pPr marL="457200" indent="-457200">
              <a:buAutoNum type="alphaUcPeriod"/>
            </a:pPr>
            <a:r>
              <a:rPr lang="en-US" dirty="0"/>
              <a:t>10 km, South from school           B. 10 km, North from school </a:t>
            </a:r>
          </a:p>
          <a:p>
            <a:r>
              <a:rPr lang="en-US" dirty="0"/>
              <a:t>C. 10km, West from school                D. 10 km, East from school </a:t>
            </a:r>
          </a:p>
        </p:txBody>
      </p:sp>
      <p:sp>
        <p:nvSpPr>
          <p:cNvPr id="5" name="TextBox 4">
            <a:extLst>
              <a:ext uri="{FF2B5EF4-FFF2-40B4-BE49-F238E27FC236}">
                <a16:creationId xmlns:a16="http://schemas.microsoft.com/office/drawing/2014/main" id="{783DC758-3320-EAE4-541C-DAD6CAA540C5}"/>
              </a:ext>
            </a:extLst>
          </p:cNvPr>
          <p:cNvSpPr txBox="1"/>
          <p:nvPr/>
        </p:nvSpPr>
        <p:spPr>
          <a:xfrm>
            <a:off x="570270" y="665824"/>
            <a:ext cx="7737987" cy="523220"/>
          </a:xfrm>
          <a:prstGeom prst="rect">
            <a:avLst/>
          </a:prstGeom>
          <a:noFill/>
        </p:spPr>
        <p:txBody>
          <a:bodyPr wrap="square">
            <a:spAutoFit/>
          </a:bodyPr>
          <a:lstStyle/>
          <a:p>
            <a:r>
              <a:rPr lang="en-US" sz="2800" b="1" dirty="0">
                <a:solidFill>
                  <a:schemeClr val="accent6"/>
                </a:solidFill>
              </a:rPr>
              <a:t>Based on Direction and Displacement</a:t>
            </a:r>
            <a:endParaRPr lang="en-IN" sz="2800" b="1" dirty="0">
              <a:solidFill>
                <a:schemeClr val="accent6"/>
              </a:solidFill>
            </a:endParaRPr>
          </a:p>
        </p:txBody>
      </p:sp>
    </p:spTree>
    <p:extLst>
      <p:ext uri="{BB962C8B-B14F-4D97-AF65-F5344CB8AC3E}">
        <p14:creationId xmlns:p14="http://schemas.microsoft.com/office/powerpoint/2010/main" val="3294127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80F6-6F72-9A98-9A56-62112A5F0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CB462-2A08-8193-1BAF-78104FA9306D}"/>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A67FABE0-8946-4D04-D94A-F806FF6CD9C7}"/>
              </a:ext>
            </a:extLst>
          </p:cNvPr>
          <p:cNvSpPr>
            <a:spLocks noGrp="1"/>
          </p:cNvSpPr>
          <p:nvPr>
            <p:ph idx="1"/>
          </p:nvPr>
        </p:nvSpPr>
        <p:spPr>
          <a:xfrm>
            <a:off x="1327354" y="711588"/>
            <a:ext cx="10196052" cy="5531896"/>
          </a:xfrm>
        </p:spPr>
        <p:txBody>
          <a:bodyPr/>
          <a:lstStyle/>
          <a:p>
            <a:r>
              <a:rPr lang="en-US" dirty="0"/>
              <a:t>X and Y start from the same point X walks 40 m North, then turns West and walks 80 m, then turns to his right and walks 50 m. At the same time, Y walks 90 m North. Where is Y now with respect to the position of X? </a:t>
            </a:r>
          </a:p>
          <a:p>
            <a:pPr marL="457200" indent="-457200">
              <a:buAutoNum type="alphaUcPeriod"/>
            </a:pPr>
            <a:r>
              <a:rPr lang="en-US" dirty="0"/>
              <a:t>Y is 30 m to the East of X               B. Y is 80 m to the West of X </a:t>
            </a:r>
          </a:p>
          <a:p>
            <a:r>
              <a:rPr lang="en-US" dirty="0"/>
              <a:t>C. Y is 30 m to the west of X                D. Y is 80 m to the East of X </a:t>
            </a:r>
          </a:p>
        </p:txBody>
      </p:sp>
    </p:spTree>
    <p:extLst>
      <p:ext uri="{BB962C8B-B14F-4D97-AF65-F5344CB8AC3E}">
        <p14:creationId xmlns:p14="http://schemas.microsoft.com/office/powerpoint/2010/main" val="2277074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7933-678A-43BA-4057-CD8B7B177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BD8A6-F21F-233C-9CE2-358B5A5903ED}"/>
              </a:ext>
            </a:extLst>
          </p:cNvPr>
          <p:cNvSpPr>
            <a:spLocks noGrp="1"/>
          </p:cNvSpPr>
          <p:nvPr>
            <p:ph type="title"/>
          </p:nvPr>
        </p:nvSpPr>
        <p:spPr>
          <a:xfrm>
            <a:off x="668595" y="1612491"/>
            <a:ext cx="757083" cy="589935"/>
          </a:xfrm>
        </p:spPr>
        <p:txBody>
          <a:bodyPr/>
          <a:lstStyle/>
          <a:p>
            <a:r>
              <a:rPr lang="en-US" dirty="0"/>
              <a:t>Q.</a:t>
            </a:r>
          </a:p>
        </p:txBody>
      </p:sp>
      <p:sp>
        <p:nvSpPr>
          <p:cNvPr id="3" name="Text Placeholder 2">
            <a:extLst>
              <a:ext uri="{FF2B5EF4-FFF2-40B4-BE49-F238E27FC236}">
                <a16:creationId xmlns:a16="http://schemas.microsoft.com/office/drawing/2014/main" id="{7C8E57E2-5D3B-FBF1-0CC1-885DD2FF8A03}"/>
              </a:ext>
            </a:extLst>
          </p:cNvPr>
          <p:cNvSpPr>
            <a:spLocks noGrp="1"/>
          </p:cNvSpPr>
          <p:nvPr>
            <p:ph idx="1"/>
          </p:nvPr>
        </p:nvSpPr>
        <p:spPr>
          <a:xfrm>
            <a:off x="1445342" y="1822633"/>
            <a:ext cx="10196052" cy="5531896"/>
          </a:xfrm>
        </p:spPr>
        <p:txBody>
          <a:bodyPr/>
          <a:lstStyle/>
          <a:p>
            <a:r>
              <a:rPr lang="en-US" dirty="0"/>
              <a:t>Rahul put his timepiece on the table in such a way that at 6 P.M. hour hand points to North. In which direction the minute hand will point at 9.15 P.M. ? A. South-East           B. South         C. North               D. West</a:t>
            </a:r>
          </a:p>
        </p:txBody>
      </p:sp>
      <p:sp>
        <p:nvSpPr>
          <p:cNvPr id="5" name="TextBox 4">
            <a:extLst>
              <a:ext uri="{FF2B5EF4-FFF2-40B4-BE49-F238E27FC236}">
                <a16:creationId xmlns:a16="http://schemas.microsoft.com/office/drawing/2014/main" id="{7BE85FAD-3D25-065B-F4CD-32339271E2E6}"/>
              </a:ext>
            </a:extLst>
          </p:cNvPr>
          <p:cNvSpPr txBox="1"/>
          <p:nvPr/>
        </p:nvSpPr>
        <p:spPr>
          <a:xfrm>
            <a:off x="668595" y="759230"/>
            <a:ext cx="6105832" cy="523220"/>
          </a:xfrm>
          <a:prstGeom prst="rect">
            <a:avLst/>
          </a:prstGeom>
          <a:noFill/>
        </p:spPr>
        <p:txBody>
          <a:bodyPr wrap="square">
            <a:spAutoFit/>
          </a:bodyPr>
          <a:lstStyle/>
          <a:p>
            <a:r>
              <a:rPr lang="en-US" sz="2800" b="1" dirty="0">
                <a:solidFill>
                  <a:schemeClr val="accent6"/>
                </a:solidFill>
              </a:rPr>
              <a:t>Examples</a:t>
            </a:r>
            <a:endParaRPr lang="en-IN" sz="2800" b="1" dirty="0">
              <a:solidFill>
                <a:schemeClr val="accent6"/>
              </a:solidFill>
            </a:endParaRPr>
          </a:p>
        </p:txBody>
      </p:sp>
    </p:spTree>
    <p:extLst>
      <p:ext uri="{BB962C8B-B14F-4D97-AF65-F5344CB8AC3E}">
        <p14:creationId xmlns:p14="http://schemas.microsoft.com/office/powerpoint/2010/main" val="3481057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F479-A802-D5DA-C98C-EB73DD7B8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B1EE0-C23B-B721-524C-53803A5845D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E35D5EA4-4451-E12E-33E6-FF6472D8E273}"/>
              </a:ext>
            </a:extLst>
          </p:cNvPr>
          <p:cNvSpPr>
            <a:spLocks noGrp="1"/>
          </p:cNvSpPr>
          <p:nvPr>
            <p:ph idx="1"/>
          </p:nvPr>
        </p:nvSpPr>
        <p:spPr>
          <a:xfrm>
            <a:off x="1327354" y="711588"/>
            <a:ext cx="10196052" cy="5531896"/>
          </a:xfrm>
        </p:spPr>
        <p:txBody>
          <a:bodyPr/>
          <a:lstStyle/>
          <a:p>
            <a:r>
              <a:rPr lang="en-US" dirty="0"/>
              <a:t>One evening before sunset Rekha and Hema were talking to each other face to face. If  Hema's shadow was exactly to the right of Hema, which direction was Rekha facing? </a:t>
            </a:r>
          </a:p>
          <a:p>
            <a:r>
              <a:rPr lang="en-US" dirty="0"/>
              <a:t>A. North       B. South        C. East        D. Data is inadequate</a:t>
            </a:r>
          </a:p>
        </p:txBody>
      </p:sp>
    </p:spTree>
    <p:extLst>
      <p:ext uri="{BB962C8B-B14F-4D97-AF65-F5344CB8AC3E}">
        <p14:creationId xmlns:p14="http://schemas.microsoft.com/office/powerpoint/2010/main" val="4194503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992D2-45EB-7E93-E2A2-B6429067D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67C3E-8AC2-E889-DA93-DB7D713DA7EC}"/>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0208834D-5F01-FE30-6413-B8D38402DD23}"/>
              </a:ext>
            </a:extLst>
          </p:cNvPr>
          <p:cNvSpPr>
            <a:spLocks noGrp="1"/>
          </p:cNvSpPr>
          <p:nvPr>
            <p:ph idx="1"/>
          </p:nvPr>
        </p:nvSpPr>
        <p:spPr>
          <a:xfrm>
            <a:off x="1327354" y="711588"/>
            <a:ext cx="10196052" cy="5531896"/>
          </a:xfrm>
        </p:spPr>
        <p:txBody>
          <a:bodyPr/>
          <a:lstStyle/>
          <a:p>
            <a:r>
              <a:rPr lang="en-US" dirty="0"/>
              <a:t>Y is in the East of X which is in the North of Z. If P is in the South of Z, then in which direction of Y, is P? </a:t>
            </a:r>
          </a:p>
          <a:p>
            <a:r>
              <a:rPr lang="en-US" dirty="0"/>
              <a:t>A. North          B. South         C. South-East        D. None of these</a:t>
            </a:r>
          </a:p>
        </p:txBody>
      </p:sp>
    </p:spTree>
    <p:extLst>
      <p:ext uri="{BB962C8B-B14F-4D97-AF65-F5344CB8AC3E}">
        <p14:creationId xmlns:p14="http://schemas.microsoft.com/office/powerpoint/2010/main" val="25085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BE65-AAE0-BC16-5FF3-6AE0E84E9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80254-48DF-6666-BBF9-35F0F709995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89E6A19E-1B52-6477-786F-7B087AA98591}"/>
              </a:ext>
            </a:extLst>
          </p:cNvPr>
          <p:cNvSpPr>
            <a:spLocks noGrp="1"/>
          </p:cNvSpPr>
          <p:nvPr>
            <p:ph idx="1"/>
          </p:nvPr>
        </p:nvSpPr>
        <p:spPr>
          <a:xfrm>
            <a:off x="1327354" y="711588"/>
            <a:ext cx="10196052" cy="5531896"/>
          </a:xfrm>
        </p:spPr>
        <p:txBody>
          <a:bodyPr/>
          <a:lstStyle/>
          <a:p>
            <a:r>
              <a:rPr lang="en-US" dirty="0"/>
              <a:t>One morning Udai and Vishal were talking to each other face to face at a crossing. If Vishal's shadow was exactly to the left of Udai, which direction was Udai facing? </a:t>
            </a:r>
          </a:p>
          <a:p>
            <a:r>
              <a:rPr lang="en-US" dirty="0"/>
              <a:t>A. East      B. West      C. North       D. South</a:t>
            </a:r>
          </a:p>
        </p:txBody>
      </p:sp>
    </p:spTree>
    <p:extLst>
      <p:ext uri="{BB962C8B-B14F-4D97-AF65-F5344CB8AC3E}">
        <p14:creationId xmlns:p14="http://schemas.microsoft.com/office/powerpoint/2010/main" val="29405395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9547-004D-1C17-15A1-CD5602962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AA4F9-5F6E-DA98-9507-598E50676D32}"/>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C10B8252-38CD-4B0C-EF6C-9B7D6B5C6684}"/>
              </a:ext>
            </a:extLst>
          </p:cNvPr>
          <p:cNvSpPr>
            <a:spLocks noGrp="1"/>
          </p:cNvSpPr>
          <p:nvPr>
            <p:ph idx="1"/>
          </p:nvPr>
        </p:nvSpPr>
        <p:spPr>
          <a:xfrm>
            <a:off x="1327354" y="711588"/>
            <a:ext cx="10196052" cy="5531896"/>
          </a:xfrm>
        </p:spPr>
        <p:txBody>
          <a:bodyPr/>
          <a:lstStyle/>
          <a:p>
            <a:r>
              <a:rPr lang="en-US" dirty="0"/>
              <a:t>A man walks 5 km toward south and then turns to the right. After walking 3 km he turns to the left and walks 5 km. Now in which direction is he from the starting place? </a:t>
            </a:r>
          </a:p>
          <a:p>
            <a:r>
              <a:rPr lang="en-US" dirty="0"/>
              <a:t>A. West       B. South       C. North-East        D. South-West </a:t>
            </a:r>
          </a:p>
        </p:txBody>
      </p:sp>
    </p:spTree>
    <p:extLst>
      <p:ext uri="{BB962C8B-B14F-4D97-AF65-F5344CB8AC3E}">
        <p14:creationId xmlns:p14="http://schemas.microsoft.com/office/powerpoint/2010/main" val="2837309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C0AF-0768-7FC6-A5F5-112F179C0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DBCB2-7186-42FB-6B00-CD333DD01938}"/>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65A19281-F859-41AD-F009-D7AD3620D530}"/>
              </a:ext>
            </a:extLst>
          </p:cNvPr>
          <p:cNvSpPr>
            <a:spLocks noGrp="1"/>
          </p:cNvSpPr>
          <p:nvPr>
            <p:ph idx="1"/>
          </p:nvPr>
        </p:nvSpPr>
        <p:spPr>
          <a:xfrm>
            <a:off x="1327354" y="711588"/>
            <a:ext cx="10196052" cy="5531896"/>
          </a:xfrm>
        </p:spPr>
        <p:txBody>
          <a:bodyPr/>
          <a:lstStyle/>
          <a:p>
            <a:r>
              <a:rPr lang="en-US" dirty="0"/>
              <a:t>If South-East becomes North, North-East becomes West and so on. What will West become? </a:t>
            </a:r>
          </a:p>
          <a:p>
            <a:r>
              <a:rPr lang="en-US" dirty="0"/>
              <a:t>A. North-East     B. North-West       C. South-East     D. South-West </a:t>
            </a:r>
          </a:p>
        </p:txBody>
      </p:sp>
    </p:spTree>
    <p:extLst>
      <p:ext uri="{BB962C8B-B14F-4D97-AF65-F5344CB8AC3E}">
        <p14:creationId xmlns:p14="http://schemas.microsoft.com/office/powerpoint/2010/main" val="18705433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CA680-B2FD-A1AD-4280-3A259A5DB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256B7-71C0-DDC9-4B9B-DF2D8B9F8D02}"/>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985CBAF2-A19F-C593-1AC1-99489DFCA180}"/>
              </a:ext>
            </a:extLst>
          </p:cNvPr>
          <p:cNvSpPr>
            <a:spLocks noGrp="1"/>
          </p:cNvSpPr>
          <p:nvPr>
            <p:ph idx="1"/>
          </p:nvPr>
        </p:nvSpPr>
        <p:spPr>
          <a:xfrm>
            <a:off x="1327354" y="711588"/>
            <a:ext cx="10196052" cy="5531896"/>
          </a:xfrm>
        </p:spPr>
        <p:txBody>
          <a:bodyPr/>
          <a:lstStyle/>
          <a:p>
            <a:r>
              <a:rPr lang="en-US" dirty="0"/>
              <a:t>K is 40 m South-West of L. If M is 40 m South-East of L, then M is in which direction of K? </a:t>
            </a:r>
          </a:p>
          <a:p>
            <a:r>
              <a:rPr lang="en-US" dirty="0"/>
              <a:t>A. East       B. West        C. North-East          D. South </a:t>
            </a:r>
          </a:p>
        </p:txBody>
      </p:sp>
    </p:spTree>
    <p:extLst>
      <p:ext uri="{BB962C8B-B14F-4D97-AF65-F5344CB8AC3E}">
        <p14:creationId xmlns:p14="http://schemas.microsoft.com/office/powerpoint/2010/main" val="3874840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E6270-3A6C-0158-A09F-3D64DDD1B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B8FDB-E564-D2A9-BA3D-67D687CA8A29}"/>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1F10A03B-2B2B-8965-6842-9E31A95F45A1}"/>
              </a:ext>
            </a:extLst>
          </p:cNvPr>
          <p:cNvSpPr>
            <a:spLocks noGrp="1"/>
          </p:cNvSpPr>
          <p:nvPr>
            <p:ph idx="1"/>
          </p:nvPr>
        </p:nvSpPr>
        <p:spPr>
          <a:xfrm>
            <a:off x="1327354" y="711588"/>
            <a:ext cx="10196052" cy="5531896"/>
          </a:xfrm>
        </p:spPr>
        <p:txBody>
          <a:bodyPr/>
          <a:lstStyle/>
          <a:p>
            <a:r>
              <a:rPr lang="en-US" dirty="0"/>
              <a:t>Some boys are sitting in three rows all facing North such that A is in the middle row. P is just to the right of A but in the same row. Q is just behind of P while R is in the North of A. In which direction of R is Q? </a:t>
            </a:r>
          </a:p>
          <a:p>
            <a:r>
              <a:rPr lang="en-US" dirty="0"/>
              <a:t>A. South        B. South-West       C. North-East      D. South-East </a:t>
            </a:r>
          </a:p>
        </p:txBody>
      </p:sp>
    </p:spTree>
    <p:extLst>
      <p:ext uri="{BB962C8B-B14F-4D97-AF65-F5344CB8AC3E}">
        <p14:creationId xmlns:p14="http://schemas.microsoft.com/office/powerpoint/2010/main" val="2363051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0E172-65AE-813E-6F7F-92A06BE77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C3C22-1424-BF73-873A-8291127734AA}"/>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2E5B4146-CB5E-F399-D85A-1924CFED4927}"/>
              </a:ext>
            </a:extLst>
          </p:cNvPr>
          <p:cNvSpPr>
            <a:spLocks noGrp="1"/>
          </p:cNvSpPr>
          <p:nvPr>
            <p:ph idx="1"/>
          </p:nvPr>
        </p:nvSpPr>
        <p:spPr>
          <a:xfrm>
            <a:off x="1327354" y="711588"/>
            <a:ext cx="10196052" cy="5531896"/>
          </a:xfrm>
        </p:spPr>
        <p:txBody>
          <a:bodyPr/>
          <a:lstStyle/>
          <a:p>
            <a:r>
              <a:rPr lang="en-US" dirty="0"/>
              <a:t>A boy rode his bicycle Northward, then turned left and rode 1 km and again turned left and rode 2 km. He found himself 1 km west of his starting point. How far did he ride northward initially? </a:t>
            </a:r>
          </a:p>
          <a:p>
            <a:r>
              <a:rPr lang="en-US" dirty="0"/>
              <a:t>A. 1 km          B. 2 km          C. 3 km            D. 5 km</a:t>
            </a:r>
          </a:p>
        </p:txBody>
      </p:sp>
    </p:spTree>
    <p:extLst>
      <p:ext uri="{BB962C8B-B14F-4D97-AF65-F5344CB8AC3E}">
        <p14:creationId xmlns:p14="http://schemas.microsoft.com/office/powerpoint/2010/main" val="4330335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F2AC-C466-5351-8812-7ECA9135E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45F37-AF15-56D7-2B47-86F1E8E76CF6}"/>
              </a:ext>
            </a:extLst>
          </p:cNvPr>
          <p:cNvSpPr>
            <a:spLocks noGrp="1"/>
          </p:cNvSpPr>
          <p:nvPr>
            <p:ph type="title"/>
          </p:nvPr>
        </p:nvSpPr>
        <p:spPr>
          <a:xfrm>
            <a:off x="570271" y="540775"/>
            <a:ext cx="757083" cy="589935"/>
          </a:xfrm>
        </p:spPr>
        <p:txBody>
          <a:bodyPr/>
          <a:lstStyle/>
          <a:p>
            <a:r>
              <a:rPr lang="en-US" dirty="0"/>
              <a:t>Q.</a:t>
            </a:r>
          </a:p>
        </p:txBody>
      </p:sp>
      <p:sp>
        <p:nvSpPr>
          <p:cNvPr id="3" name="Text Placeholder 2">
            <a:extLst>
              <a:ext uri="{FF2B5EF4-FFF2-40B4-BE49-F238E27FC236}">
                <a16:creationId xmlns:a16="http://schemas.microsoft.com/office/drawing/2014/main" id="{4D89BA1F-DF67-BAD8-8931-46CD50FB3C90}"/>
              </a:ext>
            </a:extLst>
          </p:cNvPr>
          <p:cNvSpPr>
            <a:spLocks noGrp="1"/>
          </p:cNvSpPr>
          <p:nvPr>
            <p:ph idx="1"/>
          </p:nvPr>
        </p:nvSpPr>
        <p:spPr>
          <a:xfrm>
            <a:off x="1327354" y="711588"/>
            <a:ext cx="10196052" cy="5531896"/>
          </a:xfrm>
        </p:spPr>
        <p:txBody>
          <a:bodyPr/>
          <a:lstStyle/>
          <a:p>
            <a:r>
              <a:rPr lang="en-US" dirty="0"/>
              <a:t>Rasika walked 20 m towards north. Then he turned right and walks 30 m. Then he turns right and walks 35 m. Then he turns left and walks 15 m. Finally, he turns left and walks 15 m. In which direction and how many meters is he from the starting position? </a:t>
            </a:r>
          </a:p>
          <a:p>
            <a:r>
              <a:rPr lang="en-US" dirty="0"/>
              <a:t>A. 15 m West       B. 30 m East       C. 30 m West      D. 45 m East </a:t>
            </a:r>
          </a:p>
        </p:txBody>
      </p:sp>
    </p:spTree>
    <p:extLst>
      <p:ext uri="{BB962C8B-B14F-4D97-AF65-F5344CB8AC3E}">
        <p14:creationId xmlns:p14="http://schemas.microsoft.com/office/powerpoint/2010/main" val="19731443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Any doubts ?</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{1E1972A9-9442-4F2C-BE50-C203EE770AE4}tf78438558_win32</Template>
  <TotalTime>475</TotalTime>
  <Words>2301</Words>
  <Application>Microsoft Office PowerPoint</Application>
  <PresentationFormat>Widescreen</PresentationFormat>
  <Paragraphs>179</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Arial Black</vt:lpstr>
      <vt:lpstr>Calibri</vt:lpstr>
      <vt:lpstr>Sabon Next LT</vt:lpstr>
      <vt:lpstr>Custom</vt:lpstr>
      <vt:lpstr>Apt-tech solutions</vt:lpstr>
      <vt:lpstr>agenda</vt:lpstr>
      <vt:lpstr>Blood relations</vt:lpstr>
      <vt:lpstr>Q.</vt:lpstr>
      <vt:lpstr>Q.</vt:lpstr>
      <vt:lpstr>Q.</vt:lpstr>
      <vt:lpstr>Q.</vt:lpstr>
      <vt:lpstr>Q.</vt:lpstr>
      <vt:lpstr>Q.</vt:lpstr>
      <vt:lpstr>Q.</vt:lpstr>
      <vt:lpstr>Q.</vt:lpstr>
      <vt:lpstr>Q.</vt:lpstr>
      <vt:lpstr>Q.</vt:lpstr>
      <vt:lpstr>Q.</vt:lpstr>
      <vt:lpstr>Q.</vt:lpstr>
      <vt:lpstr>Q.</vt:lpstr>
      <vt:lpstr>Q.</vt:lpstr>
      <vt:lpstr>Single Person Blood Relation</vt:lpstr>
      <vt:lpstr>Q.</vt:lpstr>
      <vt:lpstr>Q.</vt:lpstr>
      <vt:lpstr>Q.</vt:lpstr>
      <vt:lpstr>Q.</vt:lpstr>
      <vt:lpstr>Q.</vt:lpstr>
      <vt:lpstr>Direction sense &amp; Distance</vt:lpstr>
      <vt:lpstr>Example 1:</vt:lpstr>
      <vt:lpstr>Q.</vt:lpstr>
      <vt:lpstr>Q.</vt:lpstr>
      <vt:lpstr>Q.</vt:lpstr>
      <vt:lpstr>Q.</vt:lpstr>
      <vt:lpstr>Q.</vt:lpstr>
      <vt:lpstr>Q.</vt:lpstr>
      <vt:lpstr>Q.</vt:lpstr>
      <vt:lpstr>Q.</vt:lpstr>
      <vt:lpstr>Q.</vt:lpstr>
      <vt:lpstr>Q.</vt:lpstr>
      <vt:lpstr>Q.</vt:lpstr>
      <vt:lpstr>Q.</vt:lpstr>
      <vt:lpstr>Q.</vt:lpstr>
      <vt:lpstr>Q.</vt:lpstr>
      <vt:lpstr>Q.</vt:lpstr>
      <vt:lpstr>Q.</vt:lpstr>
      <vt:lpstr>Q.</vt:lpstr>
      <vt:lpstr>Q.</vt:lpstr>
      <vt:lpstr>Q.</vt:lpstr>
      <vt:lpstr>Q.</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Kaushal Powar</dc:creator>
  <cp:lastModifiedBy>Kaushal Powar</cp:lastModifiedBy>
  <cp:revision>5</cp:revision>
  <dcterms:created xsi:type="dcterms:W3CDTF">2025-12-28T14:00:04Z</dcterms:created>
  <dcterms:modified xsi:type="dcterms:W3CDTF">2026-01-16T09:29:40Z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